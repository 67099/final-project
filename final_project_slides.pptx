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7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57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56" d="100"/>
          <a:sy n="156" d="100"/>
        </p:scale>
        <p:origin x="456" y="15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832119" y="0"/>
            <a:ext cx="360000" cy="6858000"/>
          </a:xfrm>
          <a:prstGeom prst="rect">
            <a:avLst/>
          </a:prstGeom>
          <a:solidFill>
            <a:srgbClr val="253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781319" y="0"/>
            <a:ext cx="50800" cy="6858000"/>
          </a:xfrm>
          <a:prstGeom prst="rect">
            <a:avLst/>
          </a:prstGeom>
          <a:solidFill>
            <a:srgbClr val="F07F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8000" y="1800000"/>
            <a:ext cx="10356119" cy="28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15000"/>
              </a:lnSpc>
              <a:spcAft>
                <a:spcPts val="1000"/>
              </a:spcAft>
            </a:pPr>
            <a:r>
              <a:rPr lang="ar-SA" sz="1800" b="1">
                <a:solidFill>
                  <a:srgbClr val="F07F2C"/>
                </a:solidFill>
                <a:latin typeface="Segoe UI Semibold"/>
                <a:cs typeface="Segoe UI Semibold"/>
              </a:rPr>
              <a:t>المشروع النهائي</a:t>
            </a:r>
          </a:p>
          <a:p>
            <a:pPr algn="r" rtl="1">
              <a:lnSpc>
                <a:spcPct val="100000"/>
              </a:lnSpc>
              <a:spcAft>
                <a:spcPts val="1000"/>
              </a:spcAft>
            </a:pPr>
            <a:r>
              <a:rPr lang="ar-SA" sz="3800" b="1">
                <a:solidFill>
                  <a:srgbClr val="1B2733"/>
                </a:solidFill>
                <a:latin typeface="Segoe UI Semibold"/>
                <a:cs typeface="Segoe UI Semibold"/>
              </a:rPr>
              <a:t>مساعد مخصّص يجهّز طلبات التدريب التعاوني</a:t>
            </a:r>
          </a:p>
          <a:p>
            <a:pPr algn="r" rtl="1">
              <a:lnSpc>
                <a:spcPct val="115000"/>
              </a:lnSpc>
              <a:spcAft>
                <a:spcPts val="0"/>
              </a:spcAft>
            </a:pPr>
            <a:r>
              <a:rPr lang="ar-SA" sz="2200" b="0">
                <a:solidFill>
                  <a:srgbClr val="5B6770"/>
                </a:solidFill>
                <a:latin typeface="Segoe UI"/>
                <a:cs typeface="Segoe UI"/>
              </a:rPr>
              <a:t>قياس أثر الذكاء الاصطناعي على إنتاجيتي في تجربة يوم واحد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88000" y="4896000"/>
            <a:ext cx="5316119" cy="0"/>
          </a:xfrm>
          <a:prstGeom prst="line">
            <a:avLst/>
          </a:prstGeom>
          <a:ln w="9525">
            <a:solidFill>
              <a:srgbClr val="D5DB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8000" y="5040000"/>
            <a:ext cx="10356119" cy="9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15000"/>
              </a:lnSpc>
              <a:spcAft>
                <a:spcPts val="400"/>
              </a:spcAft>
            </a:pPr>
            <a:r>
              <a:rPr lang="ar-SA" sz="1600" b="1">
                <a:solidFill>
                  <a:srgbClr val="1B2733"/>
                </a:solidFill>
                <a:latin typeface="Segoe UI Semibold"/>
                <a:cs typeface="Segoe UI Semibold"/>
              </a:rPr>
              <a:t>Khaled Almathami</a:t>
            </a:r>
          </a:p>
          <a:p>
            <a:pPr algn="r" rtl="1">
              <a:lnSpc>
                <a:spcPct val="115000"/>
              </a:lnSpc>
              <a:spcAft>
                <a:spcPts val="600"/>
              </a:spcAft>
            </a:pPr>
            <a:r>
              <a:rPr lang="ar-SA" sz="1400" b="0">
                <a:solidFill>
                  <a:srgbClr val="5B6770"/>
                </a:solidFill>
                <a:latin typeface="Segoe UI"/>
                <a:cs typeface="Segoe UI"/>
              </a:rPr>
              <a:t>دورة رفع الإنتاجية بالذكاء الاصطناعي  ·  22 أكتوبر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8000" y="324000"/>
            <a:ext cx="10896119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15000"/>
              </a:lnSpc>
              <a:spcAft>
                <a:spcPts val="600"/>
              </a:spcAft>
            </a:pPr>
            <a:r>
              <a:rPr lang="ar-SA" sz="1200" b="1">
                <a:solidFill>
                  <a:srgbClr val="F07F2C"/>
                </a:solidFill>
                <a:latin typeface="Segoe UI Semibold"/>
                <a:cs typeface="Segoe UI Semibold"/>
              </a:rPr>
              <a:t>01  ·  المهمة وخط الأساس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8000" y="558000"/>
            <a:ext cx="10896119" cy="68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05000"/>
              </a:lnSpc>
              <a:spcAft>
                <a:spcPts val="600"/>
              </a:spcAft>
            </a:pPr>
            <a:r>
              <a:rPr lang="ar-SA" sz="2400" b="1" dirty="0">
                <a:solidFill>
                  <a:srgbClr val="1B2733"/>
                </a:solidFill>
                <a:latin typeface="Segoe UI Semibold"/>
                <a:cs typeface="Segoe UI Semibold"/>
              </a:rPr>
              <a:t>الطلب الواحد </a:t>
            </a:r>
            <a:r>
              <a:rPr lang="ar-SA" sz="2400" b="1" dirty="0" err="1">
                <a:solidFill>
                  <a:srgbClr val="1B2733"/>
                </a:solidFill>
                <a:latin typeface="Segoe UI Semibold"/>
                <a:cs typeface="Segoe UI Semibold"/>
              </a:rPr>
              <a:t>ياخذ</a:t>
            </a:r>
            <a:r>
              <a:rPr lang="ar-SA" sz="2400" b="1" dirty="0">
                <a:solidFill>
                  <a:srgbClr val="1B2733"/>
                </a:solidFill>
                <a:latin typeface="Segoe UI Semibold"/>
                <a:cs typeface="Segoe UI Semibold"/>
              </a:rPr>
              <a:t> مني 12 دقيقة، ويتكرر من 5 إلى 10 مرات بالشهر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8000" y="1278000"/>
            <a:ext cx="10896119" cy="0"/>
          </a:xfrm>
          <a:prstGeom prst="line">
            <a:avLst/>
          </a:prstGeom>
          <a:ln w="9525">
            <a:solidFill>
              <a:srgbClr val="D5DB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10752119" y="1252800"/>
            <a:ext cx="792000" cy="27940"/>
          </a:xfrm>
          <a:prstGeom prst="rect">
            <a:avLst/>
          </a:prstGeom>
          <a:solidFill>
            <a:srgbClr val="F07F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6" name="Connector 5"/>
          <p:cNvCxnSpPr/>
          <p:nvPr/>
        </p:nvCxnSpPr>
        <p:spPr>
          <a:xfrm>
            <a:off x="648000" y="6444001"/>
            <a:ext cx="10896119" cy="0"/>
          </a:xfrm>
          <a:prstGeom prst="line">
            <a:avLst/>
          </a:prstGeom>
          <a:ln w="9525">
            <a:solidFill>
              <a:srgbClr val="D5DB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728000" y="6498000"/>
            <a:ext cx="9816119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15000"/>
              </a:lnSpc>
              <a:spcAft>
                <a:spcPts val="600"/>
              </a:spcAft>
            </a:pPr>
            <a:r>
              <a:rPr lang="ar-SA" sz="1000" b="0">
                <a:solidFill>
                  <a:srgbClr val="5B6770"/>
                </a:solidFill>
                <a:latin typeface="Segoe UI"/>
                <a:cs typeface="Segoe UI"/>
              </a:rPr>
              <a:t>المشروع النهائي  ·  دورة رفع الإنتاجية بالذكاء الاصطناعي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8000" y="6498000"/>
            <a:ext cx="108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rtl="1">
              <a:lnSpc>
                <a:spcPct val="115000"/>
              </a:lnSpc>
              <a:spcAft>
                <a:spcPts val="600"/>
              </a:spcAft>
            </a:pPr>
            <a:r>
              <a:rPr lang="ar-SA" sz="1000" b="0">
                <a:solidFill>
                  <a:srgbClr val="5B6770"/>
                </a:solidFill>
                <a:latin typeface="Segoe UI"/>
                <a:cs typeface="Segoe UI"/>
              </a:rPr>
              <a:t>2 / 15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909312"/>
              </p:ext>
            </p:extLst>
          </p:nvPr>
        </p:nvGraphicFramePr>
        <p:xfrm>
          <a:off x="636119" y="1584000"/>
          <a:ext cx="10908000" cy="3420000"/>
        </p:xfrm>
        <a:graphic>
          <a:graphicData uri="http://schemas.openxmlformats.org/drawingml/2006/table">
            <a:tbl>
              <a:tblPr rtl="1"/>
              <a:tblGrid>
                <a:gridCol w="30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4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84000">
                <a:tc>
                  <a:txBody>
                    <a:bodyPr/>
                    <a:lstStyle/>
                    <a:p>
                      <a:pPr algn="r" rtl="1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lang="ar-SA" sz="1600" b="1">
                          <a:solidFill>
                            <a:srgbClr val="25343F"/>
                          </a:solidFill>
                          <a:latin typeface="Segoe UI Semibold"/>
                          <a:cs typeface="Segoe UI Semibold"/>
                        </a:rPr>
                        <a:t>البند</a:t>
                      </a:r>
                    </a:p>
                  </a:txBody>
                  <a:tcPr marL="90000" marR="90000" marT="43200" marB="432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 cmpd="sng">
                      <a:solidFill>
                        <a:srgbClr val="25343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lang="ar-SA" sz="1600" b="1">
                          <a:solidFill>
                            <a:srgbClr val="25343F"/>
                          </a:solidFill>
                          <a:latin typeface="Segoe UI Semibold"/>
                          <a:cs typeface="Segoe UI Semibold"/>
                        </a:rPr>
                        <a:t>إجابتي</a:t>
                      </a:r>
                    </a:p>
                  </a:txBody>
                  <a:tcPr marL="90000" marR="90000" marT="43200" marB="432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 cmpd="sng">
                      <a:solidFill>
                        <a:srgbClr val="25343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4000">
                <a:tc>
                  <a:txBody>
                    <a:bodyPr/>
                    <a:lstStyle/>
                    <a:p>
                      <a:pPr algn="r" rtl="1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lang="ar-SA" sz="1600" b="1" dirty="0">
                          <a:solidFill>
                            <a:srgbClr val="1B2733"/>
                          </a:solidFill>
                          <a:latin typeface="Segoe UI Semibold"/>
                          <a:cs typeface="Segoe UI Semibold"/>
                        </a:rPr>
                        <a:t>المهمة كيف اسويها اليوم</a:t>
                      </a:r>
                    </a:p>
                  </a:txBody>
                  <a:tcPr marL="90000" marR="90000" marT="43200" marB="43200" anchor="ctr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rgbClr val="25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mpd="sng">
                      <a:solidFill>
                        <a:srgbClr val="D5DB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lang="ar-SA" sz="1600" b="0" dirty="0">
                          <a:solidFill>
                            <a:srgbClr val="1B2733"/>
                          </a:solidFill>
                          <a:latin typeface="Segoe UI"/>
                          <a:cs typeface="Segoe UI"/>
                        </a:rPr>
                        <a:t>تبدا لما القى إعلان تدريب تعاوني، وتنتهي لما يكون عندي ملخص سيفي ورسالة تقديم جاهزين للإرسال.</a:t>
                      </a:r>
                    </a:p>
                  </a:txBody>
                  <a:tcPr marL="90000" marR="90000" marT="43200" marB="43200" anchor="ctr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rgbClr val="25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mpd="sng">
                      <a:solidFill>
                        <a:srgbClr val="D5DBE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4000">
                <a:tc>
                  <a:txBody>
                    <a:bodyPr/>
                    <a:lstStyle/>
                    <a:p>
                      <a:pPr algn="r" rtl="1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lang="ar-SA" sz="1600" b="1">
                          <a:solidFill>
                            <a:srgbClr val="1B2733"/>
                          </a:solidFill>
                          <a:latin typeface="Segoe UI Semibold"/>
                          <a:cs typeface="Segoe UI Semibold"/>
                        </a:rPr>
                        <a:t>الوقت لكل مرة</a:t>
                      </a:r>
                    </a:p>
                  </a:txBody>
                  <a:tcPr marL="90000" marR="90000" marT="43200" marB="432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mpd="sng">
                      <a:solidFill>
                        <a:srgbClr val="D5DB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lang="ar-SA" sz="1600" b="0" dirty="0">
                          <a:solidFill>
                            <a:srgbClr val="1B2733"/>
                          </a:solidFill>
                          <a:latin typeface="Segoe UI"/>
                          <a:cs typeface="Segoe UI"/>
                        </a:rPr>
                        <a:t>12 دقيقة تقريبا لطلب جهزته بنفسي.</a:t>
                      </a:r>
                    </a:p>
                  </a:txBody>
                  <a:tcPr marL="90000" marR="90000" marT="43200" marB="432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mpd="sng">
                      <a:solidFill>
                        <a:srgbClr val="D5DBE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4000">
                <a:tc>
                  <a:txBody>
                    <a:bodyPr/>
                    <a:lstStyle/>
                    <a:p>
                      <a:pPr algn="r" rtl="1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lang="ar-SA" sz="1600" b="1">
                          <a:solidFill>
                            <a:srgbClr val="1B2733"/>
                          </a:solidFill>
                          <a:latin typeface="Segoe UI Semibold"/>
                          <a:cs typeface="Segoe UI Semibold"/>
                        </a:rPr>
                        <a:t>كم مرة بالشهر؟ ومين يسويها؟</a:t>
                      </a:r>
                    </a:p>
                  </a:txBody>
                  <a:tcPr marL="90000" marR="90000" marT="43200" marB="432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mpd="sng">
                      <a:solidFill>
                        <a:srgbClr val="D5DB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lang="ar-SA" sz="1600" b="0" dirty="0">
                          <a:solidFill>
                            <a:srgbClr val="1B2733"/>
                          </a:solidFill>
                          <a:latin typeface="Segoe UI"/>
                          <a:cs typeface="Segoe UI"/>
                        </a:rPr>
                        <a:t>أتوقع من 5 إلى 10 طلبات بالشهر </a:t>
                      </a:r>
                      <a:r>
                        <a:rPr lang="ar-SA" sz="1600" b="0" dirty="0" err="1">
                          <a:solidFill>
                            <a:srgbClr val="1B2733"/>
                          </a:solidFill>
                          <a:latin typeface="Segoe UI"/>
                          <a:cs typeface="Segoe UI"/>
                        </a:rPr>
                        <a:t>هالفترة</a:t>
                      </a:r>
                      <a:r>
                        <a:rPr lang="ar-SA" sz="1600" b="0" dirty="0">
                          <a:solidFill>
                            <a:srgbClr val="1B2733"/>
                          </a:solidFill>
                          <a:latin typeface="Segoe UI"/>
                          <a:cs typeface="Segoe UI"/>
                        </a:rPr>
                        <a:t>.</a:t>
                      </a:r>
                    </a:p>
                  </a:txBody>
                  <a:tcPr marL="90000" marR="90000" marT="43200" marB="432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mpd="sng">
                      <a:solidFill>
                        <a:srgbClr val="D5DBE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4000">
                <a:tc>
                  <a:txBody>
                    <a:bodyPr/>
                    <a:lstStyle/>
                    <a:p>
                      <a:pPr algn="r" rtl="1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lang="ar-SA" sz="1600" b="1">
                          <a:solidFill>
                            <a:srgbClr val="1B2733"/>
                          </a:solidFill>
                          <a:latin typeface="Segoe UI Semibold"/>
                          <a:cs typeface="Segoe UI Semibold"/>
                        </a:rPr>
                        <a:t>أكثر شي متعب</a:t>
                      </a:r>
                    </a:p>
                  </a:txBody>
                  <a:tcPr marL="90000" marR="90000" marT="43200" marB="432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mpd="sng">
                      <a:solidFill>
                        <a:srgbClr val="D5DB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lang="ar-SA" sz="1600" b="0" dirty="0">
                          <a:solidFill>
                            <a:srgbClr val="1B2733"/>
                          </a:solidFill>
                          <a:latin typeface="Segoe UI"/>
                          <a:cs typeface="Segoe UI"/>
                        </a:rPr>
                        <a:t>كل إعلان </a:t>
                      </a:r>
                      <a:r>
                        <a:rPr lang="ar-SA" sz="1600" b="0" dirty="0" err="1">
                          <a:solidFill>
                            <a:srgbClr val="1B2733"/>
                          </a:solidFill>
                          <a:latin typeface="Segoe UI"/>
                          <a:cs typeface="Segoe UI"/>
                        </a:rPr>
                        <a:t>يبي</a:t>
                      </a:r>
                      <a:r>
                        <a:rPr lang="ar-SA" sz="1600" b="0" dirty="0">
                          <a:solidFill>
                            <a:srgbClr val="1B2733"/>
                          </a:solidFill>
                          <a:latin typeface="Segoe UI"/>
                          <a:cs typeface="Segoe UI"/>
                        </a:rPr>
                        <a:t> احتاج له رساله مخصصه </a:t>
                      </a:r>
                      <a:r>
                        <a:rPr lang="ar-SA" sz="1600" b="0" dirty="0" err="1">
                          <a:solidFill>
                            <a:srgbClr val="1B2733"/>
                          </a:solidFill>
                          <a:latin typeface="Segoe UI"/>
                          <a:cs typeface="Segoe UI"/>
                        </a:rPr>
                        <a:t>للشركه</a:t>
                      </a:r>
                      <a:r>
                        <a:rPr lang="ar-SA" sz="1600" b="0" dirty="0">
                          <a:solidFill>
                            <a:srgbClr val="1B2733"/>
                          </a:solidFill>
                          <a:latin typeface="Segoe UI"/>
                          <a:cs typeface="Segoe UI"/>
                        </a:rPr>
                        <a:t> اللي اقدم عليها والرسالة تطلع عامة وفيها كلام حشو اذا استعملت الذكاء بدون تعليمات.</a:t>
                      </a:r>
                    </a:p>
                  </a:txBody>
                  <a:tcPr marL="90000" marR="90000" marT="43200" marB="432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mpd="sng">
                      <a:solidFill>
                        <a:srgbClr val="D5DBE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8000" y="324000"/>
            <a:ext cx="10896119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15000"/>
              </a:lnSpc>
              <a:spcAft>
                <a:spcPts val="600"/>
              </a:spcAft>
            </a:pPr>
            <a:r>
              <a:rPr lang="ar-SA" sz="1200" b="1">
                <a:solidFill>
                  <a:srgbClr val="F07F2C"/>
                </a:solidFill>
                <a:latin typeface="Segoe UI Semibold"/>
                <a:cs typeface="Segoe UI Semibold"/>
              </a:rPr>
              <a:t>02  ·  سير العمل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8000" y="558000"/>
            <a:ext cx="10896119" cy="68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05000"/>
              </a:lnSpc>
              <a:spcAft>
                <a:spcPts val="600"/>
              </a:spcAft>
            </a:pPr>
            <a:r>
              <a:rPr lang="ar-SA" sz="2400" b="1" dirty="0">
                <a:solidFill>
                  <a:srgbClr val="1B2733"/>
                </a:solidFill>
                <a:latin typeface="Segoe UI Semibold"/>
                <a:cs typeface="Segoe UI Semibold"/>
              </a:rPr>
              <a:t>الـ </a:t>
            </a:r>
            <a:r>
              <a:rPr lang="ar-SA" sz="2400" b="1" dirty="0" err="1">
                <a:solidFill>
                  <a:srgbClr val="1B2733"/>
                </a:solidFill>
                <a:latin typeface="Segoe UI Semibold"/>
                <a:cs typeface="Segoe UI Semibold"/>
              </a:rPr>
              <a:t>Gem</a:t>
            </a:r>
            <a:r>
              <a:rPr lang="ar-SA" sz="2400" b="1" dirty="0">
                <a:solidFill>
                  <a:srgbClr val="1B2733"/>
                </a:solidFill>
                <a:latin typeface="Segoe UI Semibold"/>
                <a:cs typeface="Segoe UI Semibold"/>
              </a:rPr>
              <a:t> يكتب في ثواني، والتدقيق صار أبطأ خطوة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8000" y="1278000"/>
            <a:ext cx="10896119" cy="0"/>
          </a:xfrm>
          <a:prstGeom prst="line">
            <a:avLst/>
          </a:prstGeom>
          <a:ln w="9525">
            <a:solidFill>
              <a:srgbClr val="D5DB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10752119" y="1252800"/>
            <a:ext cx="792000" cy="27940"/>
          </a:xfrm>
          <a:prstGeom prst="rect">
            <a:avLst/>
          </a:prstGeom>
          <a:solidFill>
            <a:srgbClr val="F07F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6" name="Connector 5"/>
          <p:cNvCxnSpPr/>
          <p:nvPr/>
        </p:nvCxnSpPr>
        <p:spPr>
          <a:xfrm>
            <a:off x="648000" y="6444001"/>
            <a:ext cx="10896119" cy="0"/>
          </a:xfrm>
          <a:prstGeom prst="line">
            <a:avLst/>
          </a:prstGeom>
          <a:ln w="9525">
            <a:solidFill>
              <a:srgbClr val="D5DB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728000" y="6498000"/>
            <a:ext cx="9816119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15000"/>
              </a:lnSpc>
              <a:spcAft>
                <a:spcPts val="600"/>
              </a:spcAft>
            </a:pPr>
            <a:r>
              <a:rPr lang="ar-SA" sz="1000" b="0">
                <a:solidFill>
                  <a:srgbClr val="5B6770"/>
                </a:solidFill>
                <a:latin typeface="Segoe UI"/>
                <a:cs typeface="Segoe UI"/>
              </a:rPr>
              <a:t>المشروع النهائي  ·  دورة رفع الإنتاجية بالذكاء الاصطناعي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8000" y="6498000"/>
            <a:ext cx="108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rtl="1">
              <a:lnSpc>
                <a:spcPct val="115000"/>
              </a:lnSpc>
              <a:spcAft>
                <a:spcPts val="600"/>
              </a:spcAft>
            </a:pPr>
            <a:r>
              <a:rPr lang="ar-SA" sz="1000" b="0">
                <a:solidFill>
                  <a:srgbClr val="5B6770"/>
                </a:solidFill>
                <a:latin typeface="Segoe UI"/>
                <a:cs typeface="Segoe UI"/>
              </a:rPr>
              <a:t>3 / 15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862780"/>
              </p:ext>
            </p:extLst>
          </p:nvPr>
        </p:nvGraphicFramePr>
        <p:xfrm>
          <a:off x="636119" y="1584000"/>
          <a:ext cx="10907998" cy="2610000"/>
        </p:xfrm>
        <a:graphic>
          <a:graphicData uri="http://schemas.openxmlformats.org/drawingml/2006/table">
            <a:tbl>
              <a:tblPr rtl="1"/>
              <a:tblGrid>
                <a:gridCol w="5039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862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857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319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22000">
                <a:tc>
                  <a:txBody>
                    <a:bodyPr/>
                    <a:lstStyle/>
                    <a:p>
                      <a:pPr algn="r" rtl="1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lang="ar-SA" sz="1500" b="1">
                          <a:solidFill>
                            <a:srgbClr val="25343F"/>
                          </a:solidFill>
                          <a:latin typeface="Segoe UI Semibold"/>
                          <a:cs typeface="Segoe UI Semibold"/>
                        </a:rPr>
                        <a:t>#</a:t>
                      </a:r>
                    </a:p>
                  </a:txBody>
                  <a:tcPr marL="90000" marR="90000" marT="43200" marB="43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lang="ar-SA" sz="1500" b="1" dirty="0">
                          <a:solidFill>
                            <a:srgbClr val="25343F"/>
                          </a:solidFill>
                          <a:latin typeface="Segoe UI Semibold"/>
                          <a:cs typeface="Segoe UI Semibold"/>
                        </a:rPr>
                        <a:t>الخطوة</a:t>
                      </a:r>
                    </a:p>
                  </a:txBody>
                  <a:tcPr marL="90000" marR="90000" marT="43200" marB="43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lang="ar-SA" sz="1500" b="1" dirty="0">
                          <a:solidFill>
                            <a:srgbClr val="25343F"/>
                          </a:solidFill>
                          <a:latin typeface="Segoe UI Semibold"/>
                          <a:cs typeface="Segoe UI Semibold"/>
                        </a:rPr>
                        <a:t>مين يسويها</a:t>
                      </a:r>
                    </a:p>
                  </a:txBody>
                  <a:tcPr marL="90000" marR="90000" marT="43200" marB="43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lang="ar-SA" sz="1500" b="1" dirty="0">
                          <a:solidFill>
                            <a:srgbClr val="25343F"/>
                          </a:solidFill>
                          <a:latin typeface="Segoe UI Semibold"/>
                          <a:cs typeface="Segoe UI Semibold"/>
                        </a:rPr>
                        <a:t>وش أفحص بعدها</a:t>
                      </a:r>
                    </a:p>
                  </a:txBody>
                  <a:tcPr marL="90000" marR="90000" marT="43200" marB="43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2000">
                <a:tc>
                  <a:txBody>
                    <a:bodyPr/>
                    <a:lstStyle/>
                    <a:p>
                      <a:pPr algn="r" rtl="1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lang="ar-SA" sz="1500" b="1">
                          <a:solidFill>
                            <a:srgbClr val="1B2733"/>
                          </a:solidFill>
                          <a:latin typeface="Segoe UI Semibold"/>
                          <a:cs typeface="Segoe UI Semibold"/>
                        </a:rPr>
                        <a:t>1</a:t>
                      </a:r>
                    </a:p>
                  </a:txBody>
                  <a:tcPr marL="90000" marR="90000" marT="43200" marB="43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lang="ar-SA" sz="1500" b="0" dirty="0">
                          <a:solidFill>
                            <a:srgbClr val="1B2733"/>
                          </a:solidFill>
                          <a:latin typeface="Segoe UI"/>
                          <a:cs typeface="Segoe UI"/>
                        </a:rPr>
                        <a:t>ألصق الإعلان في الـ </a:t>
                      </a:r>
                      <a:r>
                        <a:rPr lang="ar-SA" sz="1500" b="0" dirty="0" err="1">
                          <a:solidFill>
                            <a:srgbClr val="1B2733"/>
                          </a:solidFill>
                          <a:latin typeface="Segoe UI"/>
                          <a:cs typeface="Segoe UI"/>
                        </a:rPr>
                        <a:t>Gem</a:t>
                      </a:r>
                      <a:endParaRPr lang="ar-SA" sz="1500" b="0" dirty="0">
                        <a:solidFill>
                          <a:srgbClr val="1B2733"/>
                        </a:solidFill>
                        <a:latin typeface="Segoe UI"/>
                        <a:cs typeface="Segoe UI"/>
                      </a:endParaRPr>
                    </a:p>
                  </a:txBody>
                  <a:tcPr marL="90000" marR="90000" marT="43200" marB="43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1" eaLnBrk="1" fontAlgn="auto" latinLnBrk="0" hangingPunct="1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500" b="0" dirty="0">
                          <a:solidFill>
                            <a:srgbClr val="1B2733"/>
                          </a:solidFill>
                          <a:latin typeface="Segoe UI"/>
                          <a:cs typeface="Segoe UI"/>
                        </a:rPr>
                        <a:t>انا</a:t>
                      </a:r>
                    </a:p>
                  </a:txBody>
                  <a:tcPr marL="90000" marR="90000" marT="43200" marB="43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lang="ar-SA" sz="1500" b="0" dirty="0">
                          <a:solidFill>
                            <a:srgbClr val="1B2733"/>
                          </a:solidFill>
                          <a:latin typeface="Segoe UI"/>
                          <a:cs typeface="Segoe UI"/>
                        </a:rPr>
                        <a:t>ان الإعلان كامل</a:t>
                      </a:r>
                    </a:p>
                  </a:txBody>
                  <a:tcPr marL="90000" marR="90000" marT="43200" marB="43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2000">
                <a:tc>
                  <a:txBody>
                    <a:bodyPr/>
                    <a:lstStyle/>
                    <a:p>
                      <a:pPr algn="r" rtl="1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lang="ar-SA" sz="1500" b="1">
                          <a:solidFill>
                            <a:srgbClr val="1B2733"/>
                          </a:solidFill>
                          <a:latin typeface="Segoe UI Semibold"/>
                          <a:cs typeface="Segoe UI Semibold"/>
                        </a:rPr>
                        <a:t>2</a:t>
                      </a:r>
                    </a:p>
                  </a:txBody>
                  <a:tcPr marL="90000" marR="90000" marT="43200" marB="43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lang="ar-SA" sz="1500" b="0">
                          <a:solidFill>
                            <a:srgbClr val="1B2733"/>
                          </a:solidFill>
                          <a:latin typeface="Segoe UI"/>
                          <a:cs typeface="Segoe UI"/>
                        </a:rPr>
                        <a:t>جدول مطابقة المتطلبات مع سيفي</a:t>
                      </a:r>
                    </a:p>
                  </a:txBody>
                  <a:tcPr marL="90000" marR="90000" marT="43200" marB="43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lang="ar-SA" sz="1500" b="0" dirty="0" err="1">
                          <a:solidFill>
                            <a:srgbClr val="1B2733"/>
                          </a:solidFill>
                          <a:latin typeface="Segoe UI"/>
                          <a:cs typeface="Segoe UI"/>
                        </a:rPr>
                        <a:t>الGem</a:t>
                      </a:r>
                      <a:endParaRPr lang="ar-SA" sz="1500" b="0" dirty="0">
                        <a:solidFill>
                          <a:srgbClr val="1B2733"/>
                        </a:solidFill>
                        <a:latin typeface="Segoe UI"/>
                        <a:cs typeface="Segoe UI"/>
                      </a:endParaRPr>
                    </a:p>
                  </a:txBody>
                  <a:tcPr marL="90000" marR="90000" marT="43200" marB="43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lang="ar-SA" sz="1500" b="0" dirty="0">
                          <a:solidFill>
                            <a:srgbClr val="1B2733"/>
                          </a:solidFill>
                          <a:latin typeface="Segoe UI"/>
                          <a:cs typeface="Segoe UI"/>
                        </a:rPr>
                        <a:t>كل إثبات موجود فعلًا في سيفي</a:t>
                      </a:r>
                    </a:p>
                  </a:txBody>
                  <a:tcPr marL="90000" marR="90000" marT="43200" marB="43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2000">
                <a:tc>
                  <a:txBody>
                    <a:bodyPr/>
                    <a:lstStyle/>
                    <a:p>
                      <a:pPr algn="r" rtl="1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lang="ar-SA" sz="1500" b="1">
                          <a:solidFill>
                            <a:srgbClr val="1B2733"/>
                          </a:solidFill>
                          <a:latin typeface="Segoe UI Semibold"/>
                          <a:cs typeface="Segoe UI Semibold"/>
                        </a:rPr>
                        <a:t>3</a:t>
                      </a:r>
                    </a:p>
                  </a:txBody>
                  <a:tcPr marL="90000" marR="90000" marT="43200" marB="43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lang="ar-SA" sz="1500" b="0">
                          <a:solidFill>
                            <a:srgbClr val="1B2733"/>
                          </a:solidFill>
                          <a:latin typeface="Segoe UI"/>
                          <a:cs typeface="Segoe UI"/>
                        </a:rPr>
                        <a:t>ملخص ورسالة تقديم</a:t>
                      </a:r>
                    </a:p>
                  </a:txBody>
                  <a:tcPr marL="90000" marR="90000" marT="43200" marB="43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1" eaLnBrk="1" fontAlgn="auto" latinLnBrk="0" hangingPunct="1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500" b="0" dirty="0" err="1">
                          <a:solidFill>
                            <a:srgbClr val="1B2733"/>
                          </a:solidFill>
                          <a:latin typeface="Segoe UI"/>
                          <a:cs typeface="Segoe UI"/>
                        </a:rPr>
                        <a:t>الGem</a:t>
                      </a:r>
                      <a:r>
                        <a:rPr lang="ar-SA" sz="1500" b="0" dirty="0">
                          <a:solidFill>
                            <a:srgbClr val="1B2733"/>
                          </a:solidFill>
                          <a:latin typeface="Segoe UI"/>
                          <a:cs typeface="Segoe UI"/>
                        </a:rPr>
                        <a:t> يقترح، انا اعتمد</a:t>
                      </a:r>
                    </a:p>
                  </a:txBody>
                  <a:tcPr marL="90000" marR="90000" marT="43200" marB="43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lang="ar-SA" sz="1500" b="0" dirty="0">
                          <a:solidFill>
                            <a:srgbClr val="1B2733"/>
                          </a:solidFill>
                          <a:latin typeface="Segoe UI"/>
                          <a:cs typeface="Segoe UI"/>
                        </a:rPr>
                        <a:t>ما فيه معلومة مخترعة، والرسالة أقل من 150 كلمة</a:t>
                      </a:r>
                    </a:p>
                  </a:txBody>
                  <a:tcPr marL="90000" marR="90000" marT="43200" marB="43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2000">
                <a:tc>
                  <a:txBody>
                    <a:bodyPr/>
                    <a:lstStyle/>
                    <a:p>
                      <a:pPr algn="r" rtl="1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lang="ar-SA" sz="1500" b="1">
                          <a:solidFill>
                            <a:srgbClr val="1B2733"/>
                          </a:solidFill>
                          <a:latin typeface="Segoe UI Semibold"/>
                          <a:cs typeface="Segoe UI Semibold"/>
                        </a:rPr>
                        <a:t>4</a:t>
                      </a:r>
                    </a:p>
                  </a:txBody>
                  <a:tcPr marL="90000" marR="90000" marT="43200" marB="43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lang="ar-SA" sz="1500" b="0" dirty="0">
                          <a:solidFill>
                            <a:srgbClr val="1B2733"/>
                          </a:solidFill>
                          <a:latin typeface="Segoe UI"/>
                          <a:cs typeface="Segoe UI"/>
                        </a:rPr>
                        <a:t>التدقيق، وإضافة جوالي وإيميلي، والإرسال</a:t>
                      </a:r>
                    </a:p>
                  </a:txBody>
                  <a:tcPr marL="90000" marR="90000" marT="43200" marB="43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lang="ar-SA" sz="1500" b="0" dirty="0">
                          <a:solidFill>
                            <a:srgbClr val="1B2733"/>
                          </a:solidFill>
                          <a:latin typeface="Segoe UI"/>
                          <a:cs typeface="Segoe UI"/>
                        </a:rPr>
                        <a:t>انا</a:t>
                      </a:r>
                    </a:p>
                  </a:txBody>
                  <a:tcPr marL="90000" marR="90000" marT="43200" marB="43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lang="ar-SA" sz="1500" b="0" dirty="0">
                          <a:solidFill>
                            <a:srgbClr val="1B2733"/>
                          </a:solidFill>
                          <a:latin typeface="Segoe UI"/>
                          <a:cs typeface="Segoe UI"/>
                        </a:rPr>
                        <a:t>القرار النهائي لي</a:t>
                      </a:r>
                    </a:p>
                  </a:txBody>
                  <a:tcPr marL="90000" marR="90000" marT="43200" marB="43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48000" y="4680000"/>
            <a:ext cx="10896119" cy="2750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15000"/>
              </a:lnSpc>
              <a:spcAft>
                <a:spcPts val="1000"/>
              </a:spcAft>
            </a:pPr>
            <a:r>
              <a:rPr lang="ar-SA" sz="1700" b="0" dirty="0">
                <a:solidFill>
                  <a:srgbClr val="F07F2C"/>
                </a:solidFill>
                <a:latin typeface="Segoe UI"/>
                <a:cs typeface="Segoe UI"/>
              </a:rPr>
              <a:t>■  </a:t>
            </a:r>
            <a:r>
              <a:rPr lang="ar-SA" sz="1700" b="1" dirty="0">
                <a:solidFill>
                  <a:srgbClr val="1B2733"/>
                </a:solidFill>
                <a:latin typeface="Segoe UI Semibold"/>
                <a:cs typeface="Segoe UI Semibold"/>
              </a:rPr>
              <a:t>أبطأ خطوة: </a:t>
            </a:r>
            <a:r>
              <a:rPr lang="ar-SA" sz="1700" b="0" dirty="0">
                <a:solidFill>
                  <a:srgbClr val="1B2733"/>
                </a:solidFill>
                <a:latin typeface="Segoe UI"/>
                <a:cs typeface="Segoe UI"/>
              </a:rPr>
              <a:t>التدقيق. التوليد </a:t>
            </a:r>
            <a:r>
              <a:rPr lang="ar-SA" sz="1700" b="0" dirty="0" err="1">
                <a:solidFill>
                  <a:srgbClr val="1B2733"/>
                </a:solidFill>
                <a:latin typeface="Segoe UI"/>
                <a:cs typeface="Segoe UI"/>
              </a:rPr>
              <a:t>ياخذ</a:t>
            </a:r>
            <a:r>
              <a:rPr lang="ar-SA" sz="1700" b="0" dirty="0">
                <a:solidFill>
                  <a:srgbClr val="1B2733"/>
                </a:solidFill>
                <a:latin typeface="Segoe UI"/>
                <a:cs typeface="Segoe UI"/>
              </a:rPr>
              <a:t> من 5 إلى 10 ثواني، والخمس دقائق تقريبًا كلها تدقيق مني.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8000" y="324000"/>
            <a:ext cx="10896119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15000"/>
              </a:lnSpc>
              <a:spcAft>
                <a:spcPts val="600"/>
              </a:spcAft>
            </a:pPr>
            <a:r>
              <a:rPr lang="ar-SA" sz="1200" b="1">
                <a:solidFill>
                  <a:srgbClr val="F07F2C"/>
                </a:solidFill>
                <a:latin typeface="Segoe UI Semibold"/>
                <a:cs typeface="Segoe UI Semibold"/>
              </a:rPr>
              <a:t>03  ·  بطاقة التفويض والمسار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8000" y="558000"/>
            <a:ext cx="10896119" cy="68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05000"/>
              </a:lnSpc>
              <a:spcAft>
                <a:spcPts val="600"/>
              </a:spcAft>
            </a:pPr>
            <a:r>
              <a:rPr lang="ar-SA" sz="2400" b="1">
                <a:solidFill>
                  <a:srgbClr val="1B2733"/>
                </a:solidFill>
                <a:latin typeface="Segoe UI Semibold"/>
                <a:cs typeface="Segoe UI Semibold"/>
              </a:rPr>
              <a:t>أفوّض القراءة والمسودة، وأحتفظ بالتدقيق والقرار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8000" y="1278000"/>
            <a:ext cx="10896119" cy="0"/>
          </a:xfrm>
          <a:prstGeom prst="line">
            <a:avLst/>
          </a:prstGeom>
          <a:ln w="9525">
            <a:solidFill>
              <a:srgbClr val="D5DB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10752119" y="1252800"/>
            <a:ext cx="792000" cy="27940"/>
          </a:xfrm>
          <a:prstGeom prst="rect">
            <a:avLst/>
          </a:prstGeom>
          <a:solidFill>
            <a:srgbClr val="F07F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6" name="Connector 5"/>
          <p:cNvCxnSpPr/>
          <p:nvPr/>
        </p:nvCxnSpPr>
        <p:spPr>
          <a:xfrm>
            <a:off x="648000" y="6444001"/>
            <a:ext cx="10896119" cy="0"/>
          </a:xfrm>
          <a:prstGeom prst="line">
            <a:avLst/>
          </a:prstGeom>
          <a:ln w="9525">
            <a:solidFill>
              <a:srgbClr val="D5DB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728000" y="6498000"/>
            <a:ext cx="9816119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15000"/>
              </a:lnSpc>
              <a:spcAft>
                <a:spcPts val="600"/>
              </a:spcAft>
            </a:pPr>
            <a:r>
              <a:rPr lang="ar-SA" sz="1000" b="0">
                <a:solidFill>
                  <a:srgbClr val="5B6770"/>
                </a:solidFill>
                <a:latin typeface="Segoe UI"/>
                <a:cs typeface="Segoe UI"/>
              </a:rPr>
              <a:t>المشروع النهائي  ·  دورة رفع الإنتاجية بالذكاء الاصطناعي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8000" y="6498000"/>
            <a:ext cx="108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rtl="1">
              <a:lnSpc>
                <a:spcPct val="115000"/>
              </a:lnSpc>
              <a:spcAft>
                <a:spcPts val="600"/>
              </a:spcAft>
            </a:pPr>
            <a:r>
              <a:rPr lang="ar-SA" sz="1000" b="0">
                <a:solidFill>
                  <a:srgbClr val="5B6770"/>
                </a:solidFill>
                <a:latin typeface="Segoe UI"/>
                <a:cs typeface="Segoe UI"/>
              </a:rPr>
              <a:t>4 / 15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36119" y="1584000"/>
          <a:ext cx="10908000" cy="3780000"/>
        </p:xfrm>
        <a:graphic>
          <a:graphicData uri="http://schemas.openxmlformats.org/drawingml/2006/table">
            <a:tbl>
              <a:tblPr rtl="1"/>
              <a:tblGrid>
                <a:gridCol w="234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6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30000">
                <a:tc>
                  <a:txBody>
                    <a:bodyPr/>
                    <a:lstStyle/>
                    <a:p>
                      <a:pPr algn="r" rtl="1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lang="ar-SA" sz="1500" b="1">
                          <a:solidFill>
                            <a:srgbClr val="25343F"/>
                          </a:solidFill>
                          <a:latin typeface="Segoe UI Semibold"/>
                          <a:cs typeface="Segoe UI Semibold"/>
                        </a:rPr>
                        <a:t>الحقل</a:t>
                      </a:r>
                    </a:p>
                  </a:txBody>
                  <a:tcPr marL="90000" marR="90000" marT="43200" marB="432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 cmpd="sng">
                      <a:solidFill>
                        <a:srgbClr val="25343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lang="ar-SA" sz="1500" b="1">
                          <a:solidFill>
                            <a:srgbClr val="25343F"/>
                          </a:solidFill>
                          <a:latin typeface="Segoe UI Semibold"/>
                          <a:cs typeface="Segoe UI Semibold"/>
                        </a:rPr>
                        <a:t>بطاقتي</a:t>
                      </a:r>
                    </a:p>
                  </a:txBody>
                  <a:tcPr marL="90000" marR="90000" marT="43200" marB="432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 cmpd="sng">
                      <a:solidFill>
                        <a:srgbClr val="25343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0000">
                <a:tc>
                  <a:txBody>
                    <a:bodyPr/>
                    <a:lstStyle/>
                    <a:p>
                      <a:pPr algn="r" rtl="1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lang="ar-SA" sz="1500" b="1">
                          <a:solidFill>
                            <a:srgbClr val="1B2733"/>
                          </a:solidFill>
                          <a:latin typeface="Segoe UI Semibold"/>
                          <a:cs typeface="Segoe UI Semibold"/>
                        </a:rPr>
                        <a:t>المسار</a:t>
                      </a:r>
                    </a:p>
                  </a:txBody>
                  <a:tcPr marL="90000" marR="90000" marT="43200" marB="43200" anchor="ctr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rgbClr val="25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mpd="sng">
                      <a:solidFill>
                        <a:srgbClr val="D5DB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lang="ar-SA" sz="1500" b="0">
                          <a:solidFill>
                            <a:srgbClr val="1B2733"/>
                          </a:solidFill>
                          <a:latin typeface="Segoe UI"/>
                          <a:cs typeface="Segoe UI"/>
                        </a:rPr>
                        <a:t>مساعد مخصّص: Gem في Gemini فيه تعليمات ثابتة وسيفي كملف معرفة. ما يكفي أمر في محادثة عادية، لأنها أضافت معلومات مو في سيفي.</a:t>
                      </a:r>
                    </a:p>
                  </a:txBody>
                  <a:tcPr marL="90000" marR="90000" marT="43200" marB="43200" anchor="ctr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rgbClr val="25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mpd="sng">
                      <a:solidFill>
                        <a:srgbClr val="D5DBE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0000">
                <a:tc>
                  <a:txBody>
                    <a:bodyPr/>
                    <a:lstStyle/>
                    <a:p>
                      <a:pPr algn="r" rtl="1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lang="ar-SA" sz="1500" b="1">
                          <a:solidFill>
                            <a:srgbClr val="1B2733"/>
                          </a:solidFill>
                          <a:latin typeface="Segoe UI Semibold"/>
                          <a:cs typeface="Segoe UI Semibold"/>
                        </a:rPr>
                        <a:t>اللي أعطيه للـ Gem</a:t>
                      </a:r>
                    </a:p>
                  </a:txBody>
                  <a:tcPr marL="90000" marR="90000" marT="43200" marB="432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mpd="sng">
                      <a:solidFill>
                        <a:srgbClr val="D5DB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lang="ar-SA" sz="1500" b="0">
                          <a:solidFill>
                            <a:srgbClr val="1B2733"/>
                          </a:solidFill>
                          <a:latin typeface="Segoe UI"/>
                          <a:cs typeface="Segoe UI"/>
                        </a:rPr>
                        <a:t>قراءة الإعلان، ومطابقته مع سيفي، ومسودة الملخص والرسالة.</a:t>
                      </a:r>
                    </a:p>
                  </a:txBody>
                  <a:tcPr marL="90000" marR="90000" marT="43200" marB="432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mpd="sng">
                      <a:solidFill>
                        <a:srgbClr val="D5DBE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0000">
                <a:tc>
                  <a:txBody>
                    <a:bodyPr/>
                    <a:lstStyle/>
                    <a:p>
                      <a:pPr algn="r" rtl="1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lang="ar-SA" sz="1500" b="1">
                          <a:solidFill>
                            <a:srgbClr val="1B2733"/>
                          </a:solidFill>
                          <a:latin typeface="Segoe UI Semibold"/>
                          <a:cs typeface="Segoe UI Semibold"/>
                        </a:rPr>
                        <a:t>اللي يبقى لي</a:t>
                      </a:r>
                    </a:p>
                  </a:txBody>
                  <a:tcPr marL="90000" marR="90000" marT="43200" marB="432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mpd="sng">
                      <a:solidFill>
                        <a:srgbClr val="D5DB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lang="ar-SA" sz="1500" b="0">
                          <a:solidFill>
                            <a:srgbClr val="1B2733"/>
                          </a:solidFill>
                          <a:latin typeface="Segoe UI"/>
                          <a:cs typeface="Segoe UI"/>
                        </a:rPr>
                        <a:t>أتحقق من كل معلومة مقابل سيفي، وأعدّل الأسلوب، وأضيف جوالي وإيميلي بنفسي، وأقرر أرسل أو لا.</a:t>
                      </a:r>
                    </a:p>
                  </a:txBody>
                  <a:tcPr marL="90000" marR="90000" marT="43200" marB="432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mpd="sng">
                      <a:solidFill>
                        <a:srgbClr val="D5DBE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0000">
                <a:tc>
                  <a:txBody>
                    <a:bodyPr/>
                    <a:lstStyle/>
                    <a:p>
                      <a:pPr algn="r" rtl="1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lang="ar-SA" sz="1500" b="1">
                          <a:solidFill>
                            <a:srgbClr val="1B2733"/>
                          </a:solidFill>
                          <a:latin typeface="Segoe UI Semibold"/>
                          <a:cs typeface="Segoe UI Semibold"/>
                        </a:rPr>
                        <a:t>البيانات</a:t>
                      </a:r>
                    </a:p>
                  </a:txBody>
                  <a:tcPr marL="90000" marR="90000" marT="43200" marB="432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mpd="sng">
                      <a:solidFill>
                        <a:srgbClr val="D5DB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lang="ar-SA" sz="1500" b="0">
                          <a:solidFill>
                            <a:srgbClr val="1B2733"/>
                          </a:solidFill>
                          <a:latin typeface="Segoe UI"/>
                          <a:cs typeface="Segoe UI"/>
                        </a:rPr>
                        <a:t>سيفي بدون الجوال والإيميل، والإعلان.</a:t>
                      </a:r>
                    </a:p>
                  </a:txBody>
                  <a:tcPr marL="90000" marR="90000" marT="43200" marB="432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mpd="sng">
                      <a:solidFill>
                        <a:srgbClr val="D5DBE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30000">
                <a:tc>
                  <a:txBody>
                    <a:bodyPr/>
                    <a:lstStyle/>
                    <a:p>
                      <a:pPr algn="r" rtl="1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lang="ar-SA" sz="1500" b="1">
                          <a:solidFill>
                            <a:srgbClr val="1B2733"/>
                          </a:solidFill>
                          <a:latin typeface="Segoe UI Semibold"/>
                          <a:cs typeface="Segoe UI Semibold"/>
                        </a:rPr>
                        <a:t>معيار القبول</a:t>
                      </a:r>
                    </a:p>
                  </a:txBody>
                  <a:tcPr marL="90000" marR="90000" marT="43200" marB="432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mpd="sng">
                      <a:solidFill>
                        <a:srgbClr val="D5DB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lang="ar-SA" sz="1500" b="0">
                          <a:solidFill>
                            <a:srgbClr val="1B2733"/>
                          </a:solidFill>
                          <a:latin typeface="Segoe UI"/>
                          <a:cs typeface="Segoe UI"/>
                        </a:rPr>
                        <a:t>صفر معلومات مو في سيفي، والرسالة أقل من 150 كلمة، وصفر كلمات حشو، وينبّهني إذا التطابق ضعيف.</a:t>
                      </a:r>
                    </a:p>
                  </a:txBody>
                  <a:tcPr marL="90000" marR="90000" marT="43200" marB="432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mpd="sng">
                      <a:solidFill>
                        <a:srgbClr val="D5DBE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8000" y="324000"/>
            <a:ext cx="10896119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15000"/>
              </a:lnSpc>
              <a:spcAft>
                <a:spcPts val="600"/>
              </a:spcAft>
            </a:pPr>
            <a:r>
              <a:rPr lang="ar-SA" sz="1200" b="1">
                <a:solidFill>
                  <a:srgbClr val="F07F2C"/>
                </a:solidFill>
                <a:latin typeface="Segoe UI Semibold"/>
                <a:cs typeface="Segoe UI Semibold"/>
              </a:rPr>
              <a:t>04  ·  التعليمات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8000" y="558000"/>
            <a:ext cx="10896119" cy="68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05000"/>
              </a:lnSpc>
              <a:spcAft>
                <a:spcPts val="600"/>
              </a:spcAft>
            </a:pPr>
            <a:r>
              <a:rPr lang="ar-SA" sz="2400" b="1">
                <a:solidFill>
                  <a:srgbClr val="1B2733"/>
                </a:solidFill>
                <a:latin typeface="Segoe UI Semibold"/>
                <a:cs typeface="Segoe UI Semibold"/>
              </a:rPr>
              <a:t>قواعد ثابتة تمنع الـ Gem من إضافة أي شي مو في سيفي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8000" y="1278000"/>
            <a:ext cx="10896119" cy="0"/>
          </a:xfrm>
          <a:prstGeom prst="line">
            <a:avLst/>
          </a:prstGeom>
          <a:ln w="9525">
            <a:solidFill>
              <a:srgbClr val="D5DB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10752119" y="1252800"/>
            <a:ext cx="792000" cy="27940"/>
          </a:xfrm>
          <a:prstGeom prst="rect">
            <a:avLst/>
          </a:prstGeom>
          <a:solidFill>
            <a:srgbClr val="F07F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6" name="Connector 5"/>
          <p:cNvCxnSpPr/>
          <p:nvPr/>
        </p:nvCxnSpPr>
        <p:spPr>
          <a:xfrm>
            <a:off x="648000" y="6444001"/>
            <a:ext cx="10896119" cy="0"/>
          </a:xfrm>
          <a:prstGeom prst="line">
            <a:avLst/>
          </a:prstGeom>
          <a:ln w="9525">
            <a:solidFill>
              <a:srgbClr val="D5DB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728000" y="6498000"/>
            <a:ext cx="9816119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15000"/>
              </a:lnSpc>
              <a:spcAft>
                <a:spcPts val="600"/>
              </a:spcAft>
            </a:pPr>
            <a:r>
              <a:rPr lang="ar-SA" sz="1000" b="0">
                <a:solidFill>
                  <a:srgbClr val="5B6770"/>
                </a:solidFill>
                <a:latin typeface="Segoe UI"/>
                <a:cs typeface="Segoe UI"/>
              </a:rPr>
              <a:t>المشروع النهائي  ·  دورة رفع الإنتاجية بالذكاء الاصطناعي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8000" y="6498000"/>
            <a:ext cx="108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rtl="1">
              <a:lnSpc>
                <a:spcPct val="115000"/>
              </a:lnSpc>
              <a:spcAft>
                <a:spcPts val="600"/>
              </a:spcAft>
            </a:pPr>
            <a:r>
              <a:rPr lang="ar-SA" sz="1000" b="0">
                <a:solidFill>
                  <a:srgbClr val="5B6770"/>
                </a:solidFill>
                <a:latin typeface="Segoe UI"/>
                <a:cs typeface="Segoe UI"/>
              </a:rPr>
              <a:t>5 / 15</a:t>
            </a:r>
          </a:p>
        </p:txBody>
      </p:sp>
      <p:pic>
        <p:nvPicPr>
          <p:cNvPr id="9" name="Picture 8" descr="gem_set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000" y="1512000"/>
            <a:ext cx="3101788" cy="4536000"/>
          </a:xfrm>
          <a:prstGeom prst="rect">
            <a:avLst/>
          </a:prstGeom>
          <a:ln w="9525">
            <a:solidFill>
              <a:srgbClr val="D5DBE0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4428000" y="1584000"/>
            <a:ext cx="7116119" cy="27181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15000"/>
              </a:lnSpc>
              <a:spcAft>
                <a:spcPts val="1400"/>
              </a:spcAft>
            </a:pPr>
            <a:r>
              <a:rPr lang="ar-SA" sz="1600" b="1" dirty="0">
                <a:solidFill>
                  <a:srgbClr val="1B2733"/>
                </a:solidFill>
                <a:latin typeface="Segoe UI Semibold"/>
                <a:cs typeface="Segoe UI Semibold"/>
              </a:rPr>
              <a:t>المخرج: </a:t>
            </a:r>
            <a:r>
              <a:rPr lang="ar-SA" sz="1600" b="0" dirty="0">
                <a:solidFill>
                  <a:srgbClr val="1B2733"/>
                </a:solidFill>
                <a:latin typeface="Segoe UI"/>
                <a:cs typeface="Segoe UI"/>
              </a:rPr>
              <a:t>جدول مطابقة، وملخص 60 </a:t>
            </a:r>
            <a:r>
              <a:rPr lang="ar-SA" sz="1600" dirty="0">
                <a:solidFill>
                  <a:srgbClr val="1B2733"/>
                </a:solidFill>
                <a:latin typeface="Segoe UI"/>
                <a:cs typeface="Segoe UI"/>
              </a:rPr>
              <a:t>لين 150 كلمه</a:t>
            </a:r>
            <a:r>
              <a:rPr lang="ar-SA" sz="1600" b="0" dirty="0">
                <a:solidFill>
                  <a:srgbClr val="1B2733"/>
                </a:solidFill>
                <a:latin typeface="Segoe UI"/>
                <a:cs typeface="Segoe UI"/>
              </a:rPr>
              <a:t>، وأهم 3 نقاط في سيفي للإعلان، والنواقص</a:t>
            </a:r>
            <a:r>
              <a:rPr lang="ar-SA" sz="1600" dirty="0">
                <a:solidFill>
                  <a:srgbClr val="1B2733"/>
                </a:solidFill>
                <a:latin typeface="Segoe UI"/>
                <a:cs typeface="Segoe UI"/>
              </a:rPr>
              <a:t> اللي تحتاج اضافه مني</a:t>
            </a:r>
            <a:r>
              <a:rPr lang="ar-SA" sz="1600" b="0" dirty="0">
                <a:solidFill>
                  <a:srgbClr val="1B2733"/>
                </a:solidFill>
                <a:latin typeface="Segoe UI"/>
                <a:cs typeface="Segoe UI"/>
              </a:rPr>
              <a:t>.</a:t>
            </a:r>
          </a:p>
          <a:p>
            <a:pPr algn="r" rtl="1">
              <a:lnSpc>
                <a:spcPct val="115000"/>
              </a:lnSpc>
              <a:spcAft>
                <a:spcPts val="600"/>
              </a:spcAft>
            </a:pPr>
            <a:r>
              <a:rPr lang="ar-SA" sz="1600" b="1" dirty="0">
                <a:solidFill>
                  <a:srgbClr val="F07F2C"/>
                </a:solidFill>
                <a:latin typeface="Segoe UI Semibold"/>
                <a:cs typeface="Segoe UI Semibold"/>
              </a:rPr>
              <a:t>قواعد «لا»</a:t>
            </a:r>
          </a:p>
          <a:p>
            <a:pPr algn="r" rtl="1">
              <a:lnSpc>
                <a:spcPct val="115000"/>
              </a:lnSpc>
              <a:spcAft>
                <a:spcPts val="600"/>
              </a:spcAft>
            </a:pPr>
            <a:r>
              <a:rPr lang="ar-SA" sz="1500" b="0" dirty="0">
                <a:solidFill>
                  <a:srgbClr val="F07F2C"/>
                </a:solidFill>
                <a:latin typeface="Segoe UI"/>
                <a:cs typeface="Segoe UI"/>
              </a:rPr>
              <a:t>■  </a:t>
            </a:r>
            <a:r>
              <a:rPr lang="ar-SA" sz="1500" b="0" dirty="0">
                <a:solidFill>
                  <a:srgbClr val="1B2733"/>
                </a:solidFill>
                <a:latin typeface="Segoe UI"/>
                <a:cs typeface="Segoe UI"/>
              </a:rPr>
              <a:t>لا يضيف مهارة أو رقم أو خبرة </a:t>
            </a:r>
            <a:r>
              <a:rPr lang="ar-SA" sz="1500" b="0" dirty="0" err="1">
                <a:solidFill>
                  <a:srgbClr val="1B2733"/>
                </a:solidFill>
                <a:latin typeface="Segoe UI"/>
                <a:cs typeface="Segoe UI"/>
              </a:rPr>
              <a:t>مو</a:t>
            </a:r>
            <a:r>
              <a:rPr lang="ar-SA" sz="1500" b="0" dirty="0">
                <a:solidFill>
                  <a:srgbClr val="1B2733"/>
                </a:solidFill>
                <a:latin typeface="Segoe UI"/>
                <a:cs typeface="Segoe UI"/>
              </a:rPr>
              <a:t> في سيفي.</a:t>
            </a:r>
          </a:p>
          <a:p>
            <a:pPr algn="r" rtl="1">
              <a:lnSpc>
                <a:spcPct val="115000"/>
              </a:lnSpc>
              <a:spcAft>
                <a:spcPts val="600"/>
              </a:spcAft>
            </a:pPr>
            <a:r>
              <a:rPr lang="ar-SA" sz="1500" b="0" dirty="0">
                <a:solidFill>
                  <a:srgbClr val="F07F2C"/>
                </a:solidFill>
                <a:latin typeface="Segoe UI"/>
                <a:cs typeface="Segoe UI"/>
              </a:rPr>
              <a:t>■  </a:t>
            </a:r>
            <a:r>
              <a:rPr lang="ar-SA" sz="1500" b="0" dirty="0">
                <a:solidFill>
                  <a:srgbClr val="1B2733"/>
                </a:solidFill>
                <a:latin typeface="Segoe UI"/>
                <a:cs typeface="Segoe UI"/>
              </a:rPr>
              <a:t>لا يكتب جوالي أو إيميلي أو هويتي.</a:t>
            </a:r>
          </a:p>
          <a:p>
            <a:pPr algn="r" rtl="1">
              <a:lnSpc>
                <a:spcPct val="115000"/>
              </a:lnSpc>
              <a:spcAft>
                <a:spcPts val="600"/>
              </a:spcAft>
            </a:pPr>
            <a:r>
              <a:rPr lang="ar-SA" sz="1500" b="0" dirty="0">
                <a:solidFill>
                  <a:srgbClr val="F07F2C"/>
                </a:solidFill>
                <a:latin typeface="Segoe UI"/>
                <a:cs typeface="Segoe UI"/>
              </a:rPr>
              <a:t>■  </a:t>
            </a:r>
            <a:r>
              <a:rPr lang="ar-SA" sz="1500" b="0" dirty="0">
                <a:solidFill>
                  <a:srgbClr val="1B2733"/>
                </a:solidFill>
                <a:latin typeface="Segoe UI"/>
                <a:cs typeface="Segoe UI"/>
              </a:rPr>
              <a:t>لا يكتب كلام حشو.</a:t>
            </a:r>
          </a:p>
          <a:p>
            <a:pPr algn="r" rtl="1">
              <a:lnSpc>
                <a:spcPct val="115000"/>
              </a:lnSpc>
              <a:spcAft>
                <a:spcPts val="600"/>
              </a:spcAft>
            </a:pPr>
            <a:r>
              <a:rPr lang="ar-SA" sz="1500" b="0" dirty="0">
                <a:solidFill>
                  <a:srgbClr val="F07F2C"/>
                </a:solidFill>
                <a:latin typeface="Segoe UI"/>
                <a:cs typeface="Segoe UI"/>
              </a:rPr>
              <a:t>■  </a:t>
            </a:r>
            <a:r>
              <a:rPr lang="ar-SA" sz="1500" b="0" dirty="0">
                <a:solidFill>
                  <a:srgbClr val="1B2733"/>
                </a:solidFill>
                <a:latin typeface="Segoe UI"/>
                <a:cs typeface="Segoe UI"/>
              </a:rPr>
              <a:t>إذا الإعلان بعيد عن تخصصي: يقول التطابق ضعيف ويسألني قبل لا يكتب.</a:t>
            </a:r>
          </a:p>
          <a:p>
            <a:pPr algn="r" rtl="1">
              <a:lnSpc>
                <a:spcPct val="115000"/>
              </a:lnSpc>
              <a:spcAft>
                <a:spcPts val="600"/>
              </a:spcAft>
            </a:pPr>
            <a:r>
              <a:rPr lang="ar-SA" sz="1500" b="0" dirty="0">
                <a:solidFill>
                  <a:srgbClr val="F07F2C"/>
                </a:solidFill>
                <a:latin typeface="Segoe UI"/>
                <a:cs typeface="Segoe UI"/>
              </a:rPr>
              <a:t>■  </a:t>
            </a:r>
            <a:r>
              <a:rPr lang="ar-SA" sz="1500" b="0" dirty="0">
                <a:solidFill>
                  <a:srgbClr val="1B2733"/>
                </a:solidFill>
                <a:latin typeface="Segoe UI"/>
                <a:cs typeface="Segoe UI"/>
              </a:rPr>
              <a:t>إذا ناقصه معلومة مني: يكتبها كنقطة تحتاج مدخلاتي.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48000" y="558000"/>
            <a:ext cx="10896119" cy="68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05000"/>
              </a:lnSpc>
              <a:spcAft>
                <a:spcPts val="600"/>
              </a:spcAft>
            </a:pPr>
            <a:r>
              <a:rPr lang="ar-SA" sz="2400" b="1">
                <a:solidFill>
                  <a:srgbClr val="1B2733"/>
                </a:solidFill>
                <a:latin typeface="Segoe UI Semibold"/>
                <a:cs typeface="Segoe UI Semibold"/>
              </a:rPr>
              <a:t>التعليمات كاملة كما هي في الـ Gem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8000" y="1278000"/>
            <a:ext cx="10896119" cy="0"/>
          </a:xfrm>
          <a:prstGeom prst="line">
            <a:avLst/>
          </a:prstGeom>
          <a:ln w="9525">
            <a:solidFill>
              <a:srgbClr val="D5DB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10752119" y="1252800"/>
            <a:ext cx="792000" cy="27940"/>
          </a:xfrm>
          <a:prstGeom prst="rect">
            <a:avLst/>
          </a:prstGeom>
          <a:solidFill>
            <a:srgbClr val="F07F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6" name="Connector 5"/>
          <p:cNvCxnSpPr/>
          <p:nvPr/>
        </p:nvCxnSpPr>
        <p:spPr>
          <a:xfrm>
            <a:off x="648000" y="6444001"/>
            <a:ext cx="10896119" cy="0"/>
          </a:xfrm>
          <a:prstGeom prst="line">
            <a:avLst/>
          </a:prstGeom>
          <a:ln w="9525">
            <a:solidFill>
              <a:srgbClr val="D5DB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728000" y="6498000"/>
            <a:ext cx="9816119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15000"/>
              </a:lnSpc>
              <a:spcAft>
                <a:spcPts val="600"/>
              </a:spcAft>
            </a:pPr>
            <a:r>
              <a:rPr lang="ar-SA" sz="1000" b="0">
                <a:solidFill>
                  <a:srgbClr val="5B6770"/>
                </a:solidFill>
                <a:latin typeface="Segoe UI"/>
                <a:cs typeface="Segoe UI"/>
              </a:rPr>
              <a:t>المشروع النهائي  ·  دورة رفع الإنتاجية بالذكاء الاصطناعي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8000" y="6498000"/>
            <a:ext cx="108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rtl="1">
              <a:lnSpc>
                <a:spcPct val="115000"/>
              </a:lnSpc>
              <a:spcAft>
                <a:spcPts val="600"/>
              </a:spcAft>
            </a:pPr>
            <a:r>
              <a:rPr lang="ar-SA" sz="1000" b="0">
                <a:solidFill>
                  <a:srgbClr val="5B6770"/>
                </a:solidFill>
                <a:latin typeface="Segoe UI"/>
                <a:cs typeface="Segoe UI"/>
              </a:rPr>
              <a:t>15 / 15</a:t>
            </a:r>
          </a:p>
        </p:txBody>
      </p:sp>
      <p:sp>
        <p:nvSpPr>
          <p:cNvPr id="9" name="Rectangle 8"/>
          <p:cNvSpPr/>
          <p:nvPr/>
        </p:nvSpPr>
        <p:spPr>
          <a:xfrm>
            <a:off x="648000" y="1512000"/>
            <a:ext cx="10896119" cy="4716000"/>
          </a:xfrm>
          <a:prstGeom prst="rect">
            <a:avLst/>
          </a:prstGeom>
          <a:solidFill>
            <a:srgbClr val="F3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36000" y="1620000"/>
            <a:ext cx="10320119" cy="453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rtl="0">
              <a:lnSpc>
                <a:spcPct val="100000"/>
              </a:lnSpc>
              <a:spcAft>
                <a:spcPts val="0"/>
              </a:spcAft>
            </a:pPr>
            <a:r>
              <a:rPr lang="en-US" sz="1150" b="0" dirty="0">
                <a:solidFill>
                  <a:srgbClr val="1B2733"/>
                </a:solidFill>
                <a:latin typeface="Consolas"/>
                <a:cs typeface="Consolas"/>
              </a:rPr>
              <a:t>You help me apply for co-op and internship positions.</a:t>
            </a:r>
          </a:p>
          <a:p>
            <a:pPr algn="l" rtl="0">
              <a:lnSpc>
                <a:spcPct val="100000"/>
              </a:lnSpc>
              <a:spcAft>
                <a:spcPts val="0"/>
              </a:spcAft>
            </a:pPr>
            <a:endParaRPr lang="en-US" sz="1150" b="0" dirty="0">
              <a:solidFill>
                <a:srgbClr val="1B2733"/>
              </a:solidFill>
              <a:latin typeface="Consolas"/>
              <a:cs typeface="Consolas"/>
            </a:endParaRPr>
          </a:p>
          <a:p>
            <a:pPr algn="l" rtl="0">
              <a:lnSpc>
                <a:spcPct val="100000"/>
              </a:lnSpc>
              <a:spcAft>
                <a:spcPts val="0"/>
              </a:spcAft>
            </a:pPr>
            <a:r>
              <a:rPr lang="en-US" sz="1150" b="1" dirty="0">
                <a:solidFill>
                  <a:srgbClr val="1B2733"/>
                </a:solidFill>
                <a:latin typeface="Segoe UI Semibold"/>
                <a:cs typeface="Segoe UI Semibold"/>
              </a:rPr>
              <a:t>Input:</a:t>
            </a:r>
          </a:p>
          <a:p>
            <a:pPr algn="l" rtl="0">
              <a:lnSpc>
                <a:spcPct val="100000"/>
              </a:lnSpc>
              <a:spcAft>
                <a:spcPts val="0"/>
              </a:spcAft>
            </a:pPr>
            <a:r>
              <a:rPr lang="en-US" sz="1150" b="0" dirty="0">
                <a:solidFill>
                  <a:srgbClr val="1B2733"/>
                </a:solidFill>
                <a:latin typeface="Consolas"/>
                <a:cs typeface="Consolas"/>
              </a:rPr>
              <a:t>- The job posting I paste.</a:t>
            </a:r>
          </a:p>
          <a:p>
            <a:pPr algn="l" rtl="0">
              <a:lnSpc>
                <a:spcPct val="100000"/>
              </a:lnSpc>
              <a:spcAft>
                <a:spcPts val="0"/>
              </a:spcAft>
            </a:pPr>
            <a:r>
              <a:rPr lang="en-US" sz="1150" b="0" dirty="0">
                <a:solidFill>
                  <a:srgbClr val="1B2733"/>
                </a:solidFill>
                <a:latin typeface="Consolas"/>
                <a:cs typeface="Consolas"/>
              </a:rPr>
              <a:t>- My CV from the knowledge file. If it is missing, ask me for it and stop.</a:t>
            </a:r>
          </a:p>
          <a:p>
            <a:pPr algn="l" rtl="0">
              <a:lnSpc>
                <a:spcPct val="100000"/>
              </a:lnSpc>
              <a:spcAft>
                <a:spcPts val="0"/>
              </a:spcAft>
            </a:pPr>
            <a:endParaRPr lang="en-US" sz="1150" b="0" dirty="0">
              <a:solidFill>
                <a:srgbClr val="1B2733"/>
              </a:solidFill>
              <a:latin typeface="Consolas"/>
              <a:cs typeface="Consolas"/>
            </a:endParaRPr>
          </a:p>
          <a:p>
            <a:pPr algn="l" rtl="0">
              <a:lnSpc>
                <a:spcPct val="100000"/>
              </a:lnSpc>
              <a:spcAft>
                <a:spcPts val="0"/>
              </a:spcAft>
            </a:pPr>
            <a:r>
              <a:rPr lang="en-US" sz="1150" b="1" dirty="0">
                <a:solidFill>
                  <a:srgbClr val="1B2733"/>
                </a:solidFill>
                <a:latin typeface="Segoe UI Semibold"/>
                <a:cs typeface="Segoe UI Semibold"/>
              </a:rPr>
              <a:t>Steps:</a:t>
            </a:r>
          </a:p>
          <a:p>
            <a:pPr algn="l" rtl="0">
              <a:lnSpc>
                <a:spcPct val="100000"/>
              </a:lnSpc>
              <a:spcAft>
                <a:spcPts val="0"/>
              </a:spcAft>
            </a:pPr>
            <a:r>
              <a:rPr lang="en-US" sz="1150" b="0" dirty="0">
                <a:solidFill>
                  <a:srgbClr val="1B2733"/>
                </a:solidFill>
                <a:latin typeface="Consolas"/>
                <a:cs typeface="Consolas"/>
              </a:rPr>
              <a:t>1. From the posting, pull out: role, company, required skills, nice-to-have skills, language.</a:t>
            </a:r>
          </a:p>
          <a:p>
            <a:pPr algn="l" rtl="0">
              <a:lnSpc>
                <a:spcPct val="100000"/>
              </a:lnSpc>
              <a:spcAft>
                <a:spcPts val="0"/>
              </a:spcAft>
            </a:pPr>
            <a:r>
              <a:rPr lang="en-US" sz="1150" b="0" dirty="0">
                <a:solidFill>
                  <a:srgbClr val="1B2733"/>
                </a:solidFill>
                <a:latin typeface="Consolas"/>
                <a:cs typeface="Consolas"/>
              </a:rPr>
              <a:t>2. Match each requirement with my CV: matched, partial or missing.</a:t>
            </a:r>
          </a:p>
          <a:p>
            <a:pPr algn="l" rtl="0">
              <a:lnSpc>
                <a:spcPct val="100000"/>
              </a:lnSpc>
              <a:spcAft>
                <a:spcPts val="0"/>
              </a:spcAft>
            </a:pPr>
            <a:endParaRPr lang="en-US" sz="1150" b="0" dirty="0">
              <a:solidFill>
                <a:srgbClr val="1B2733"/>
              </a:solidFill>
              <a:latin typeface="Consolas"/>
              <a:cs typeface="Consolas"/>
            </a:endParaRPr>
          </a:p>
          <a:p>
            <a:pPr algn="l" rtl="0">
              <a:lnSpc>
                <a:spcPct val="100000"/>
              </a:lnSpc>
              <a:spcAft>
                <a:spcPts val="0"/>
              </a:spcAft>
            </a:pPr>
            <a:r>
              <a:rPr lang="en-US" sz="1150" b="1" dirty="0">
                <a:solidFill>
                  <a:srgbClr val="1B2733"/>
                </a:solidFill>
                <a:latin typeface="Segoe UI Semibold"/>
                <a:cs typeface="Segoe UI Semibold"/>
              </a:rPr>
              <a:t>Output (in this order):</a:t>
            </a:r>
          </a:p>
          <a:p>
            <a:pPr algn="l" rtl="0">
              <a:lnSpc>
                <a:spcPct val="100000"/>
              </a:lnSpc>
              <a:spcAft>
                <a:spcPts val="0"/>
              </a:spcAft>
            </a:pPr>
            <a:r>
              <a:rPr lang="en-US" sz="1150" b="0" dirty="0">
                <a:solidFill>
                  <a:srgbClr val="1B2733"/>
                </a:solidFill>
                <a:latin typeface="Consolas"/>
                <a:cs typeface="Consolas"/>
              </a:rPr>
              <a:t>1. A table: requirement | proof from my CV | matched / partial / missing.</a:t>
            </a:r>
          </a:p>
          <a:p>
            <a:pPr algn="l" rtl="0">
              <a:lnSpc>
                <a:spcPct val="100000"/>
              </a:lnSpc>
              <a:spcAft>
                <a:spcPts val="0"/>
              </a:spcAft>
            </a:pPr>
            <a:r>
              <a:rPr lang="en-US" sz="1150" b="0" dirty="0">
                <a:solidFill>
                  <a:srgbClr val="1B2733"/>
                </a:solidFill>
                <a:latin typeface="Consolas"/>
                <a:cs typeface="Consolas"/>
              </a:rPr>
              <a:t>2. Tailored summary: 3 lines, 60 words max.</a:t>
            </a:r>
          </a:p>
          <a:p>
            <a:pPr algn="l" rtl="0">
              <a:lnSpc>
                <a:spcPct val="100000"/>
              </a:lnSpc>
              <a:spcAft>
                <a:spcPts val="0"/>
              </a:spcAft>
            </a:pPr>
            <a:r>
              <a:rPr lang="en-US" sz="1150" b="0" dirty="0">
                <a:solidFill>
                  <a:srgbClr val="1B2733"/>
                </a:solidFill>
                <a:latin typeface="Consolas"/>
                <a:cs typeface="Consolas"/>
              </a:rPr>
              <a:t>3. The 3 CV bullets I should move to the top for this posting.</a:t>
            </a:r>
          </a:p>
          <a:p>
            <a:pPr algn="l" rtl="0">
              <a:lnSpc>
                <a:spcPct val="100000"/>
              </a:lnSpc>
              <a:spcAft>
                <a:spcPts val="0"/>
              </a:spcAft>
            </a:pPr>
            <a:r>
              <a:rPr lang="en-US" sz="1150" b="0" dirty="0">
                <a:solidFill>
                  <a:srgbClr val="1B2733"/>
                </a:solidFill>
                <a:latin typeface="Consolas"/>
                <a:cs typeface="Consolas"/>
              </a:rPr>
              <a:t>4. Cover message: 150 words max, in the posting's language. Greeting, why this role, 2 proofs from my CV with numbers, short closing.</a:t>
            </a:r>
          </a:p>
          <a:p>
            <a:pPr algn="l" rtl="0">
              <a:lnSpc>
                <a:spcPct val="100000"/>
              </a:lnSpc>
              <a:spcAft>
                <a:spcPts val="0"/>
              </a:spcAft>
            </a:pPr>
            <a:r>
              <a:rPr lang="en-US" sz="1150" b="0" dirty="0">
                <a:solidFill>
                  <a:srgbClr val="1B2733"/>
                </a:solidFill>
                <a:latin typeface="Consolas"/>
                <a:cs typeface="Consolas"/>
              </a:rPr>
              <a:t>5. Gaps: what is missing, and one honest line on how to handle it.</a:t>
            </a:r>
          </a:p>
          <a:p>
            <a:pPr algn="l" rtl="0">
              <a:lnSpc>
                <a:spcPct val="100000"/>
              </a:lnSpc>
              <a:spcAft>
                <a:spcPts val="0"/>
              </a:spcAft>
            </a:pPr>
            <a:endParaRPr lang="en-US" sz="1150" b="0" dirty="0">
              <a:solidFill>
                <a:srgbClr val="1B2733"/>
              </a:solidFill>
              <a:latin typeface="Consolas"/>
              <a:cs typeface="Consolas"/>
            </a:endParaRPr>
          </a:p>
          <a:p>
            <a:pPr algn="l" rtl="0">
              <a:lnSpc>
                <a:spcPct val="100000"/>
              </a:lnSpc>
              <a:spcAft>
                <a:spcPts val="0"/>
              </a:spcAft>
            </a:pPr>
            <a:r>
              <a:rPr lang="en-US" sz="1150" b="1" dirty="0">
                <a:solidFill>
                  <a:srgbClr val="1B2733"/>
                </a:solidFill>
                <a:latin typeface="Segoe UI Semibold"/>
                <a:cs typeface="Segoe UI Semibold"/>
              </a:rPr>
              <a:t>Never:</a:t>
            </a:r>
          </a:p>
          <a:p>
            <a:pPr algn="l" rtl="0">
              <a:lnSpc>
                <a:spcPct val="100000"/>
              </a:lnSpc>
              <a:spcAft>
                <a:spcPts val="0"/>
              </a:spcAft>
            </a:pPr>
            <a:r>
              <a:rPr lang="en-US" sz="1150" b="0" dirty="0">
                <a:solidFill>
                  <a:srgbClr val="1B2733"/>
                </a:solidFill>
                <a:latin typeface="Consolas"/>
                <a:cs typeface="Consolas"/>
              </a:rPr>
              <a:t>- Never add a skill, certificate, number or experience that is not in my CV.</a:t>
            </a:r>
          </a:p>
          <a:p>
            <a:pPr algn="l" rtl="0">
              <a:lnSpc>
                <a:spcPct val="100000"/>
              </a:lnSpc>
              <a:spcAft>
                <a:spcPts val="0"/>
              </a:spcAft>
            </a:pPr>
            <a:r>
              <a:rPr lang="en-US" sz="1150" b="0" dirty="0">
                <a:solidFill>
                  <a:srgbClr val="1B2733"/>
                </a:solidFill>
                <a:latin typeface="Consolas"/>
                <a:cs typeface="Consolas"/>
              </a:rPr>
              <a:t>- Never write my phone number, email or ID.</a:t>
            </a:r>
          </a:p>
          <a:p>
            <a:pPr algn="l" rtl="0">
              <a:lnSpc>
                <a:spcPct val="100000"/>
              </a:lnSpc>
              <a:spcAft>
                <a:spcPts val="0"/>
              </a:spcAft>
            </a:pPr>
            <a:r>
              <a:rPr lang="en-US" sz="1150" b="0" dirty="0">
                <a:solidFill>
                  <a:srgbClr val="1B2733"/>
                </a:solidFill>
                <a:latin typeface="Consolas"/>
                <a:cs typeface="Consolas"/>
              </a:rPr>
              <a:t>- No filler words like "passionate", "hardworking", "eager" or "dynamic".</a:t>
            </a:r>
          </a:p>
          <a:p>
            <a:pPr algn="l" rtl="0">
              <a:lnSpc>
                <a:spcPct val="100000"/>
              </a:lnSpc>
              <a:spcAft>
                <a:spcPts val="0"/>
              </a:spcAft>
            </a:pPr>
            <a:r>
              <a:rPr lang="en-US" sz="1150" b="0">
                <a:solidFill>
                  <a:srgbClr val="1B2733"/>
                </a:solidFill>
                <a:latin typeface="Consolas"/>
                <a:cs typeface="Consolas"/>
              </a:rPr>
              <a:t>- If the posting is far from AI, cybersecurity or software, say the match is low and ask me before writing.</a:t>
            </a:r>
          </a:p>
          <a:p>
            <a:pPr algn="l" rtl="0">
              <a:lnSpc>
                <a:spcPct val="100000"/>
              </a:lnSpc>
              <a:spcAft>
                <a:spcPts val="0"/>
              </a:spcAft>
            </a:pPr>
            <a:r>
              <a:rPr lang="en-US" sz="1150" b="0" dirty="0">
                <a:solidFill>
                  <a:srgbClr val="1B2733"/>
                </a:solidFill>
                <a:latin typeface="Consolas"/>
                <a:cs typeface="Consolas"/>
              </a:rPr>
              <a:t>- If something needs my input (GPA, start date), write [needs your input].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8000" y="324000"/>
            <a:ext cx="10896119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15000"/>
              </a:lnSpc>
              <a:spcAft>
                <a:spcPts val="600"/>
              </a:spcAft>
            </a:pPr>
            <a:r>
              <a:rPr lang="ar-SA" sz="1200" b="1">
                <a:solidFill>
                  <a:srgbClr val="F07F2C"/>
                </a:solidFill>
                <a:latin typeface="Segoe UI Semibold"/>
                <a:cs typeface="Segoe UI Semibold"/>
              </a:rPr>
              <a:t>05  ·  البيانات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8000" y="558000"/>
            <a:ext cx="10896119" cy="68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05000"/>
              </a:lnSpc>
              <a:spcAft>
                <a:spcPts val="600"/>
              </a:spcAft>
            </a:pPr>
            <a:r>
              <a:rPr lang="ar-SA" sz="2400" b="1">
                <a:solidFill>
                  <a:srgbClr val="1B2733"/>
                </a:solidFill>
                <a:latin typeface="Segoe UI Semibold"/>
                <a:cs typeface="Segoe UI Semibold"/>
              </a:rPr>
              <a:t>رفعت أقل قدر من البيانات: سيفي بدون جوال ولا إيميل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8000" y="1278000"/>
            <a:ext cx="10896119" cy="0"/>
          </a:xfrm>
          <a:prstGeom prst="line">
            <a:avLst/>
          </a:prstGeom>
          <a:ln w="9525">
            <a:solidFill>
              <a:srgbClr val="D5DB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10752119" y="1252800"/>
            <a:ext cx="792000" cy="27940"/>
          </a:xfrm>
          <a:prstGeom prst="rect">
            <a:avLst/>
          </a:prstGeom>
          <a:solidFill>
            <a:srgbClr val="F07F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6" name="Connector 5"/>
          <p:cNvCxnSpPr/>
          <p:nvPr/>
        </p:nvCxnSpPr>
        <p:spPr>
          <a:xfrm>
            <a:off x="648000" y="6444001"/>
            <a:ext cx="10896119" cy="0"/>
          </a:xfrm>
          <a:prstGeom prst="line">
            <a:avLst/>
          </a:prstGeom>
          <a:ln w="9525">
            <a:solidFill>
              <a:srgbClr val="D5DB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728000" y="6498000"/>
            <a:ext cx="9816119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15000"/>
              </a:lnSpc>
              <a:spcAft>
                <a:spcPts val="600"/>
              </a:spcAft>
            </a:pPr>
            <a:r>
              <a:rPr lang="ar-SA" sz="1000" b="0">
                <a:solidFill>
                  <a:srgbClr val="5B6770"/>
                </a:solidFill>
                <a:latin typeface="Segoe UI"/>
                <a:cs typeface="Segoe UI"/>
              </a:rPr>
              <a:t>المشروع النهائي  ·  دورة رفع الإنتاجية بالذكاء الاصطناعي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8000" y="6498000"/>
            <a:ext cx="108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rtl="1">
              <a:lnSpc>
                <a:spcPct val="115000"/>
              </a:lnSpc>
              <a:spcAft>
                <a:spcPts val="600"/>
              </a:spcAft>
            </a:pPr>
            <a:r>
              <a:rPr lang="ar-SA" sz="1000" b="0">
                <a:solidFill>
                  <a:srgbClr val="5B6770"/>
                </a:solidFill>
                <a:latin typeface="Segoe UI"/>
                <a:cs typeface="Segoe UI"/>
              </a:rPr>
              <a:t>6 / 15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3801051"/>
              </p:ext>
            </p:extLst>
          </p:nvPr>
        </p:nvGraphicFramePr>
        <p:xfrm>
          <a:off x="636119" y="1584000"/>
          <a:ext cx="10908000" cy="3780000"/>
        </p:xfrm>
        <a:graphic>
          <a:graphicData uri="http://schemas.openxmlformats.org/drawingml/2006/table">
            <a:tbl>
              <a:tblPr rtl="1"/>
              <a:tblGrid>
                <a:gridCol w="30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4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30000">
                <a:tc>
                  <a:txBody>
                    <a:bodyPr/>
                    <a:lstStyle/>
                    <a:p>
                      <a:pPr algn="r" rtl="1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lang="ar-SA" sz="1600" b="1">
                          <a:solidFill>
                            <a:srgbClr val="25343F"/>
                          </a:solidFill>
                          <a:latin typeface="Segoe UI Semibold"/>
                          <a:cs typeface="Segoe UI Semibold"/>
                        </a:rPr>
                        <a:t>السؤال</a:t>
                      </a:r>
                    </a:p>
                  </a:txBody>
                  <a:tcPr marL="90000" marR="90000" marT="43200" marB="432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 cmpd="sng">
                      <a:solidFill>
                        <a:srgbClr val="25343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lang="ar-SA" sz="1600" b="1">
                          <a:solidFill>
                            <a:srgbClr val="25343F"/>
                          </a:solidFill>
                          <a:latin typeface="Segoe UI Semibold"/>
                          <a:cs typeface="Segoe UI Semibold"/>
                        </a:rPr>
                        <a:t>جوابي</a:t>
                      </a:r>
                    </a:p>
                  </a:txBody>
                  <a:tcPr marL="90000" marR="90000" marT="43200" marB="432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 cmpd="sng">
                      <a:solidFill>
                        <a:srgbClr val="25343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0000">
                <a:tc>
                  <a:txBody>
                    <a:bodyPr/>
                    <a:lstStyle/>
                    <a:p>
                      <a:pPr algn="r" rtl="1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lang="ar-SA" sz="1600" b="1">
                          <a:solidFill>
                            <a:srgbClr val="1B2733"/>
                          </a:solidFill>
                          <a:latin typeface="Segoe UI Semibold"/>
                          <a:cs typeface="Segoe UI Semibold"/>
                        </a:rPr>
                        <a:t>شلت كل شي ما تحتاجه المهمة؟</a:t>
                      </a:r>
                    </a:p>
                  </a:txBody>
                  <a:tcPr marL="90000" marR="90000" marT="43200" marB="43200" anchor="ctr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rgbClr val="25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mpd="sng">
                      <a:solidFill>
                        <a:srgbClr val="D5DB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lang="ar-SA" sz="1600" b="0">
                          <a:solidFill>
                            <a:srgbClr val="1B2733"/>
                          </a:solidFill>
                          <a:latin typeface="Segoe UI"/>
                          <a:cs typeface="Segoe UI"/>
                        </a:rPr>
                        <a:t>نعم. شلت الجوال والإيميل، وخليت اسمي لأنه يدخل في الرسالة.</a:t>
                      </a:r>
                    </a:p>
                  </a:txBody>
                  <a:tcPr marL="90000" marR="90000" marT="43200" marB="43200" anchor="ctr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rgbClr val="25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mpd="sng">
                      <a:solidFill>
                        <a:srgbClr val="D5DBE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0000">
                <a:tc>
                  <a:txBody>
                    <a:bodyPr/>
                    <a:lstStyle/>
                    <a:p>
                      <a:pPr algn="r" rtl="1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lang="ar-SA" sz="1600" b="1">
                          <a:solidFill>
                            <a:srgbClr val="1B2733"/>
                          </a:solidFill>
                          <a:latin typeface="Segoe UI Semibold"/>
                          <a:cs typeface="Segoe UI Semibold"/>
                        </a:rPr>
                        <a:t>تسمح السياسة برفعها؟</a:t>
                      </a:r>
                    </a:p>
                  </a:txBody>
                  <a:tcPr marL="90000" marR="90000" marT="43200" marB="432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mpd="sng">
                      <a:solidFill>
                        <a:srgbClr val="D5DB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lang="ar-SA" sz="1600" b="0">
                          <a:solidFill>
                            <a:srgbClr val="1B2733"/>
                          </a:solidFill>
                          <a:latin typeface="Segoe UI"/>
                          <a:cs typeface="Segoe UI"/>
                        </a:rPr>
                        <a:t>بياناتي أنا، على حسابي الشخصي، وما فيها بيانات أي جهة.</a:t>
                      </a:r>
                    </a:p>
                  </a:txBody>
                  <a:tcPr marL="90000" marR="90000" marT="43200" marB="432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mpd="sng">
                      <a:solidFill>
                        <a:srgbClr val="D5DBE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0000">
                <a:tc>
                  <a:txBody>
                    <a:bodyPr/>
                    <a:lstStyle/>
                    <a:p>
                      <a:pPr algn="r" rtl="1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lang="ar-SA" sz="1600" b="1">
                          <a:solidFill>
                            <a:srgbClr val="1B2733"/>
                          </a:solidFill>
                          <a:latin typeface="Segoe UI Semibold"/>
                          <a:cs typeface="Segoe UI Semibold"/>
                        </a:rPr>
                        <a:t>المادة على قد المهمة؟</a:t>
                      </a:r>
                    </a:p>
                  </a:txBody>
                  <a:tcPr marL="90000" marR="90000" marT="43200" marB="432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mpd="sng">
                      <a:solidFill>
                        <a:srgbClr val="D5DB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lang="ar-SA" sz="1600" b="0">
                          <a:solidFill>
                            <a:srgbClr val="1B2733"/>
                          </a:solidFill>
                          <a:latin typeface="Segoe UI"/>
                          <a:cs typeface="Segoe UI"/>
                        </a:rPr>
                        <a:t>نعم: المهارات والمشاريع والشهادات بس.</a:t>
                      </a:r>
                    </a:p>
                  </a:txBody>
                  <a:tcPr marL="90000" marR="90000" marT="43200" marB="432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mpd="sng">
                      <a:solidFill>
                        <a:srgbClr val="D5DBE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0000">
                <a:tc>
                  <a:txBody>
                    <a:bodyPr/>
                    <a:lstStyle/>
                    <a:p>
                      <a:pPr algn="r" rtl="1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lang="ar-SA" sz="1600" b="1">
                          <a:solidFill>
                            <a:srgbClr val="1B2733"/>
                          </a:solidFill>
                          <a:latin typeface="Segoe UI Semibold"/>
                          <a:cs typeface="Segoe UI Semibold"/>
                        </a:rPr>
                        <a:t>وش اللي ما ينرفع أبدًا؟</a:t>
                      </a:r>
                    </a:p>
                  </a:txBody>
                  <a:tcPr marL="90000" marR="90000" marT="43200" marB="432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mpd="sng">
                      <a:solidFill>
                        <a:srgbClr val="D5DB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lang="ar-SA" sz="1600" b="0" dirty="0">
                          <a:solidFill>
                            <a:srgbClr val="1B2733"/>
                          </a:solidFill>
                          <a:latin typeface="Segoe UI"/>
                          <a:cs typeface="Segoe UI"/>
                        </a:rPr>
                        <a:t>رقم الهوية، والجوال، والإيميل، وكشف الدرجات انا اضيفها بنفسي.</a:t>
                      </a:r>
                    </a:p>
                  </a:txBody>
                  <a:tcPr marL="90000" marR="90000" marT="43200" marB="432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mpd="sng">
                      <a:solidFill>
                        <a:srgbClr val="D5DBE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30000">
                <a:tc>
                  <a:txBody>
                    <a:bodyPr/>
                    <a:lstStyle/>
                    <a:p>
                      <a:pPr algn="r" rtl="1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lang="ar-SA" sz="1600" b="1" dirty="0">
                          <a:solidFill>
                            <a:srgbClr val="1B2733"/>
                          </a:solidFill>
                          <a:latin typeface="Segoe UI Semibold"/>
                          <a:cs typeface="Segoe UI Semibold"/>
                        </a:rPr>
                        <a:t>التجارب</a:t>
                      </a:r>
                    </a:p>
                  </a:txBody>
                  <a:tcPr marL="90000" marR="90000" marT="43200" marB="432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mpd="sng">
                      <a:solidFill>
                        <a:srgbClr val="D5DB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lang="ar-SA" sz="1600" b="0" dirty="0">
                          <a:solidFill>
                            <a:srgbClr val="1B2733"/>
                          </a:solidFill>
                          <a:latin typeface="Segoe UI"/>
                          <a:cs typeface="Segoe UI"/>
                        </a:rPr>
                        <a:t>ثلاث إعلانات تجريبية للقياس، وإعلان حقيقي واحد من </a:t>
                      </a:r>
                      <a:r>
                        <a:rPr lang="ar-SA" sz="1600" b="0" dirty="0" err="1">
                          <a:solidFill>
                            <a:srgbClr val="1B2733"/>
                          </a:solidFill>
                          <a:latin typeface="Segoe UI"/>
                          <a:cs typeface="Segoe UI"/>
                        </a:rPr>
                        <a:t>لينكدإن</a:t>
                      </a:r>
                      <a:r>
                        <a:rPr lang="ar-SA" sz="1600" b="0" dirty="0">
                          <a:solidFill>
                            <a:srgbClr val="1B2733"/>
                          </a:solidFill>
                          <a:latin typeface="Segoe UI"/>
                          <a:cs typeface="Segoe UI"/>
                        </a:rPr>
                        <a:t> .</a:t>
                      </a:r>
                    </a:p>
                  </a:txBody>
                  <a:tcPr marL="90000" marR="90000" marT="43200" marB="432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mpd="sng">
                      <a:solidFill>
                        <a:srgbClr val="D5DBE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8000" y="324000"/>
            <a:ext cx="10896119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15000"/>
              </a:lnSpc>
              <a:spcAft>
                <a:spcPts val="600"/>
              </a:spcAft>
            </a:pPr>
            <a:r>
              <a:rPr lang="ar-SA" sz="1200" b="1">
                <a:solidFill>
                  <a:srgbClr val="F07F2C"/>
                </a:solidFill>
                <a:latin typeface="Segoe UI Semibold"/>
                <a:cs typeface="Segoe UI Semibold"/>
              </a:rPr>
              <a:t>06  ·  حالات الاختبار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8000" y="558000"/>
            <a:ext cx="10896119" cy="68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05000"/>
              </a:lnSpc>
              <a:spcAft>
                <a:spcPts val="600"/>
              </a:spcAft>
            </a:pPr>
            <a:r>
              <a:rPr lang="ar-SA" sz="2400" b="1">
                <a:solidFill>
                  <a:srgbClr val="1B2733"/>
                </a:solidFill>
                <a:latin typeface="Segoe UI Semibold"/>
                <a:cs typeface="Segoe UI Semibold"/>
              </a:rPr>
              <a:t>المحادثة العادية أضافت معلومات مو في سيفي في الحالات الثلاث، والـ Gem ولا مرة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8000" y="1278000"/>
            <a:ext cx="10896119" cy="0"/>
          </a:xfrm>
          <a:prstGeom prst="line">
            <a:avLst/>
          </a:prstGeom>
          <a:ln w="9525">
            <a:solidFill>
              <a:srgbClr val="D5DB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10752119" y="1252800"/>
            <a:ext cx="792000" cy="27940"/>
          </a:xfrm>
          <a:prstGeom prst="rect">
            <a:avLst/>
          </a:prstGeom>
          <a:solidFill>
            <a:srgbClr val="F07F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6" name="Connector 5"/>
          <p:cNvCxnSpPr/>
          <p:nvPr/>
        </p:nvCxnSpPr>
        <p:spPr>
          <a:xfrm>
            <a:off x="648000" y="6444001"/>
            <a:ext cx="10896119" cy="0"/>
          </a:xfrm>
          <a:prstGeom prst="line">
            <a:avLst/>
          </a:prstGeom>
          <a:ln w="9525">
            <a:solidFill>
              <a:srgbClr val="D5DB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728000" y="6498000"/>
            <a:ext cx="9816119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15000"/>
              </a:lnSpc>
              <a:spcAft>
                <a:spcPts val="600"/>
              </a:spcAft>
            </a:pPr>
            <a:r>
              <a:rPr lang="ar-SA" sz="1000" b="0">
                <a:solidFill>
                  <a:srgbClr val="5B6770"/>
                </a:solidFill>
                <a:latin typeface="Segoe UI"/>
                <a:cs typeface="Segoe UI"/>
              </a:rPr>
              <a:t>المشروع النهائي  ·  دورة رفع الإنتاجية بالذكاء الاصطناعي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8000" y="6498000"/>
            <a:ext cx="108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rtl="1">
              <a:lnSpc>
                <a:spcPct val="115000"/>
              </a:lnSpc>
              <a:spcAft>
                <a:spcPts val="600"/>
              </a:spcAft>
            </a:pPr>
            <a:r>
              <a:rPr lang="ar-SA" sz="1000" b="0">
                <a:solidFill>
                  <a:srgbClr val="5B6770"/>
                </a:solidFill>
                <a:latin typeface="Segoe UI"/>
                <a:cs typeface="Segoe UI"/>
              </a:rPr>
              <a:t>7 / 15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9087878"/>
              </p:ext>
            </p:extLst>
          </p:nvPr>
        </p:nvGraphicFramePr>
        <p:xfrm>
          <a:off x="636119" y="1584000"/>
          <a:ext cx="10907999" cy="3600000"/>
        </p:xfrm>
        <a:graphic>
          <a:graphicData uri="http://schemas.openxmlformats.org/drawingml/2006/table">
            <a:tbl>
              <a:tblPr rtl="1"/>
              <a:tblGrid>
                <a:gridCol w="17557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42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4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88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900000">
                <a:tc>
                  <a:txBody>
                    <a:bodyPr/>
                    <a:lstStyle/>
                    <a:p>
                      <a:pPr algn="r" rtl="1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lang="ar-SA" sz="1400" b="1">
                          <a:solidFill>
                            <a:srgbClr val="25343F"/>
                          </a:solidFill>
                          <a:latin typeface="Segoe UI Semibold"/>
                          <a:cs typeface="Segoe UI Semibold"/>
                        </a:rPr>
                        <a:t>الحالة</a:t>
                      </a:r>
                    </a:p>
                  </a:txBody>
                  <a:tcPr marL="90000" marR="90000" marT="43200" marB="432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 cmpd="sng">
                      <a:solidFill>
                        <a:srgbClr val="25343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lang="ar-SA" sz="1400" b="1">
                          <a:solidFill>
                            <a:srgbClr val="25343F"/>
                          </a:solidFill>
                          <a:latin typeface="Segoe UI Semibold"/>
                          <a:cs typeface="Segoe UI Semibold"/>
                        </a:rPr>
                        <a:t>النتيجة المقبولة</a:t>
                      </a:r>
                    </a:p>
                  </a:txBody>
                  <a:tcPr marL="90000" marR="90000" marT="43200" marB="432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 cmpd="sng">
                      <a:solidFill>
                        <a:srgbClr val="25343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lang="ar-SA" sz="1400" b="1">
                          <a:solidFill>
                            <a:srgbClr val="25343F"/>
                          </a:solidFill>
                          <a:latin typeface="Segoe UI Semibold"/>
                          <a:cs typeface="Segoe UI Semibold"/>
                        </a:rPr>
                        <a:t>محادثة عادية بدون تعليمات</a:t>
                      </a:r>
                    </a:p>
                  </a:txBody>
                  <a:tcPr marL="90000" marR="90000" marT="43200" marB="432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 cmpd="sng">
                      <a:solidFill>
                        <a:srgbClr val="25343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lang="ar-SA" sz="1400" b="1">
                          <a:solidFill>
                            <a:srgbClr val="25343F"/>
                          </a:solidFill>
                          <a:latin typeface="Segoe UI Semibold"/>
                          <a:cs typeface="Segoe UI Semibold"/>
                        </a:rPr>
                        <a:t>الـ Gem</a:t>
                      </a:r>
                    </a:p>
                  </a:txBody>
                  <a:tcPr marL="90000" marR="90000" marT="43200" marB="432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 cmpd="sng">
                      <a:solidFill>
                        <a:srgbClr val="25343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00000">
                <a:tc>
                  <a:txBody>
                    <a:bodyPr/>
                    <a:lstStyle/>
                    <a:p>
                      <a:pPr algn="r" rtl="1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lang="ar-SA" sz="1400" b="1">
                          <a:solidFill>
                            <a:srgbClr val="1B2733"/>
                          </a:solidFill>
                          <a:latin typeface="Segoe UI Semibold"/>
                          <a:cs typeface="Segoe UI Semibold"/>
                        </a:rPr>
                        <a:t>نموذجية:
إعلان أمن سيبراني</a:t>
                      </a:r>
                    </a:p>
                  </a:txBody>
                  <a:tcPr marL="90000" marR="90000" marT="43200" marB="43200" anchor="ctr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rgbClr val="25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mpd="sng">
                      <a:solidFill>
                        <a:srgbClr val="D5DB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lang="ar-SA" sz="1400" b="0" dirty="0">
                          <a:solidFill>
                            <a:srgbClr val="1B2733"/>
                          </a:solidFill>
                          <a:latin typeface="Segoe UI"/>
                          <a:cs typeface="Segoe UI"/>
                        </a:rPr>
                        <a:t>جدول مطابقة، ورسالة أقل من 150 كلمة، وبدون معلومة مخترعة</a:t>
                      </a:r>
                    </a:p>
                  </a:txBody>
                  <a:tcPr marL="90000" marR="90000" marT="43200" marB="43200" anchor="ctr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rgbClr val="25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mpd="sng">
                      <a:solidFill>
                        <a:srgbClr val="D5DB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lang="ar-SA" sz="1400" b="0" dirty="0">
                          <a:solidFill>
                            <a:srgbClr val="1B2733"/>
                          </a:solidFill>
                          <a:latin typeface="Segoe UI"/>
                          <a:cs typeface="Segoe UI"/>
                        </a:rPr>
                        <a:t>بالغ: قال إني «أتقنت» وإني أستخدم بايثون للأتمتة بانتظام. وفيها حشو، وبدون جدول</a:t>
                      </a:r>
                    </a:p>
                  </a:txBody>
                  <a:tcPr marL="90000" marR="90000" marT="43200" marB="43200" anchor="ctr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rgbClr val="25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mpd="sng">
                      <a:solidFill>
                        <a:srgbClr val="D5DB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lang="ar-SA" sz="1400" b="0">
                          <a:solidFill>
                            <a:srgbClr val="1B2733"/>
                          </a:solidFill>
                          <a:latin typeface="Segoe UI"/>
                          <a:cs typeface="Segoe UI"/>
                        </a:rPr>
                        <a:t>نجح من أول مرة: جدول، وذكر النواقص، وسألني عن مدة التدريب</a:t>
                      </a:r>
                    </a:p>
                  </a:txBody>
                  <a:tcPr marL="90000" marR="90000" marT="43200" marB="43200" anchor="ctr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rgbClr val="25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mpd="sng">
                      <a:solidFill>
                        <a:srgbClr val="D5DBE0"/>
                      </a:solidFill>
                    </a:lnB>
                    <a:solidFill>
                      <a:srgbClr val="F3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00000">
                <a:tc>
                  <a:txBody>
                    <a:bodyPr/>
                    <a:lstStyle/>
                    <a:p>
                      <a:pPr algn="r" rtl="1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lang="ar-SA" sz="1400" b="1">
                          <a:solidFill>
                            <a:srgbClr val="1B2733"/>
                          </a:solidFill>
                          <a:latin typeface="Segoe UI Semibold"/>
                          <a:cs typeface="Segoe UI Semibold"/>
                        </a:rPr>
                        <a:t>فوضوية:
إعلان ذكاء اصطناعي</a:t>
                      </a:r>
                    </a:p>
                  </a:txBody>
                  <a:tcPr marL="90000" marR="90000" marT="43200" marB="432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mpd="sng">
                      <a:solidFill>
                        <a:srgbClr val="D5DB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lang="ar-SA" sz="1400" b="0" dirty="0">
                          <a:solidFill>
                            <a:srgbClr val="1B2733"/>
                          </a:solidFill>
                          <a:latin typeface="Segoe UI"/>
                          <a:cs typeface="Segoe UI"/>
                        </a:rPr>
                        <a:t>نفس المعيار، ويقول بصراحة وش الناقص</a:t>
                      </a:r>
                    </a:p>
                  </a:txBody>
                  <a:tcPr marL="90000" marR="90000" marT="43200" marB="432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mpd="sng">
                      <a:solidFill>
                        <a:srgbClr val="D5DB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lang="ar-SA" sz="1400" b="0" dirty="0">
                          <a:solidFill>
                            <a:srgbClr val="1B2733"/>
                          </a:solidFill>
                          <a:latin typeface="Segoe UI"/>
                          <a:cs typeface="Segoe UI"/>
                        </a:rPr>
                        <a:t>قال إني أبني واجهات برمجية «جاهزة للإنتاج» ببايثون، وهذا </a:t>
                      </a:r>
                      <a:r>
                        <a:rPr lang="ar-SA" sz="1400" b="0" dirty="0" err="1">
                          <a:solidFill>
                            <a:srgbClr val="1B2733"/>
                          </a:solidFill>
                          <a:latin typeface="Segoe UI"/>
                          <a:cs typeface="Segoe UI"/>
                        </a:rPr>
                        <a:t>مو</a:t>
                      </a:r>
                      <a:r>
                        <a:rPr lang="ar-SA" sz="1400" b="0" dirty="0">
                          <a:solidFill>
                            <a:srgbClr val="1B2733"/>
                          </a:solidFill>
                          <a:latin typeface="Segoe UI"/>
                          <a:cs typeface="Segoe UI"/>
                        </a:rPr>
                        <a:t> في سيفي</a:t>
                      </a:r>
                    </a:p>
                  </a:txBody>
                  <a:tcPr marL="90000" marR="90000" marT="43200" marB="432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mpd="sng">
                      <a:solidFill>
                        <a:srgbClr val="D5DB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lang="ar-SA" sz="1400" b="0" dirty="0">
                          <a:solidFill>
                            <a:srgbClr val="1B2733"/>
                          </a:solidFill>
                          <a:latin typeface="Segoe UI"/>
                          <a:cs typeface="Segoe UI"/>
                        </a:rPr>
                        <a:t>نجح من أول مرة: جدول، وقال إن أداة وحدة ناقصة عندي</a:t>
                      </a:r>
                    </a:p>
                  </a:txBody>
                  <a:tcPr marL="90000" marR="90000" marT="43200" marB="432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mpd="sng">
                      <a:solidFill>
                        <a:srgbClr val="D5DBE0"/>
                      </a:solidFill>
                    </a:lnB>
                    <a:solidFill>
                      <a:srgbClr val="F3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00000">
                <a:tc>
                  <a:txBody>
                    <a:bodyPr/>
                    <a:lstStyle/>
                    <a:p>
                      <a:pPr algn="r" rtl="1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lang="ar-SA" sz="1400" b="1">
                          <a:solidFill>
                            <a:srgbClr val="1B2733"/>
                          </a:solidFill>
                          <a:latin typeface="Segoe UI Semibold"/>
                          <a:cs typeface="Segoe UI Semibold"/>
                        </a:rPr>
                        <a:t>حدّية:
إعلان محاسبة</a:t>
                      </a:r>
                    </a:p>
                  </a:txBody>
                  <a:tcPr marL="90000" marR="90000" marT="43200" marB="432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mpd="sng">
                      <a:solidFill>
                        <a:srgbClr val="D5DB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lang="ar-SA" sz="1400" b="0">
                          <a:solidFill>
                            <a:srgbClr val="1B2733"/>
                          </a:solidFill>
                          <a:latin typeface="Segoe UI"/>
                          <a:cs typeface="Segoe UI"/>
                        </a:rPr>
                        <a:t>يقول إن التطابق ضعيف، ويسألني قبل لا يكتب</a:t>
                      </a:r>
                    </a:p>
                  </a:txBody>
                  <a:tcPr marL="90000" marR="90000" marT="43200" marB="432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mpd="sng">
                      <a:solidFill>
                        <a:srgbClr val="D5DB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lang="ar-SA" sz="1400" b="0" dirty="0">
                          <a:solidFill>
                            <a:srgbClr val="1B2733"/>
                          </a:solidFill>
                          <a:latin typeface="Segoe UI"/>
                          <a:cs typeface="Segoe UI"/>
                        </a:rPr>
                        <a:t>اخترع لي مهارات محاسبة وإكسل متقدم، وما نبّهني</a:t>
                      </a:r>
                    </a:p>
                  </a:txBody>
                  <a:tcPr marL="90000" marR="90000" marT="43200" marB="432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mpd="sng">
                      <a:solidFill>
                        <a:srgbClr val="D5DB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lang="ar-SA" sz="1400" b="0" dirty="0">
                          <a:solidFill>
                            <a:srgbClr val="1B2733"/>
                          </a:solidFill>
                          <a:latin typeface="Segoe UI"/>
                          <a:cs typeface="Segoe UI"/>
                        </a:rPr>
                        <a:t>نجح: قال التطابق ضعيف وسألني</a:t>
                      </a:r>
                    </a:p>
                  </a:txBody>
                  <a:tcPr marL="90000" marR="90000" marT="43200" marB="432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mpd="sng">
                      <a:solidFill>
                        <a:srgbClr val="D5DBE0"/>
                      </a:solidFill>
                    </a:lnB>
                    <a:solidFill>
                      <a:srgbClr val="F3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48000" y="6083999"/>
            <a:ext cx="10896119" cy="161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15000"/>
              </a:lnSpc>
              <a:spcAft>
                <a:spcPts val="600"/>
              </a:spcAft>
            </a:pPr>
            <a:r>
              <a:rPr lang="ar-SA" sz="1000" b="0" dirty="0">
                <a:solidFill>
                  <a:srgbClr val="5B6770"/>
                </a:solidFill>
                <a:latin typeface="Segoe UI"/>
                <a:cs typeface="Segoe UI"/>
              </a:rPr>
              <a:t>6 محادثات في </a:t>
            </a:r>
            <a:r>
              <a:rPr lang="ar-SA" sz="1000" b="0" dirty="0" err="1">
                <a:solidFill>
                  <a:srgbClr val="5B6770"/>
                </a:solidFill>
                <a:latin typeface="Segoe UI"/>
                <a:cs typeface="Segoe UI"/>
              </a:rPr>
              <a:t>Gemini</a:t>
            </a:r>
            <a:r>
              <a:rPr lang="ar-SA" sz="1000" b="0" dirty="0">
                <a:solidFill>
                  <a:srgbClr val="5B6770"/>
                </a:solidFill>
                <a:latin typeface="Segoe UI"/>
                <a:cs typeface="Segoe UI"/>
              </a:rPr>
              <a:t> بنموذج </a:t>
            </a:r>
            <a:r>
              <a:rPr lang="ar-SA" sz="1000" b="0" dirty="0" err="1">
                <a:solidFill>
                  <a:srgbClr val="5B6770"/>
                </a:solidFill>
                <a:latin typeface="Segoe UI"/>
                <a:cs typeface="Segoe UI"/>
              </a:rPr>
              <a:t>Flash</a:t>
            </a:r>
            <a:r>
              <a:rPr lang="ar-SA" sz="1000" b="0" dirty="0">
                <a:solidFill>
                  <a:srgbClr val="5B6770"/>
                </a:solidFill>
                <a:latin typeface="Segoe UI"/>
                <a:cs typeface="Segoe UI"/>
              </a:rPr>
              <a:t>، 22 أكتوبر 2026. نفس الإعلانات في الطريقتين.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8000" y="324000"/>
            <a:ext cx="10896119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15000"/>
              </a:lnSpc>
              <a:spcAft>
                <a:spcPts val="600"/>
              </a:spcAft>
            </a:pPr>
            <a:r>
              <a:rPr lang="ar-SA" sz="1200" b="1">
                <a:solidFill>
                  <a:srgbClr val="F07F2C"/>
                </a:solidFill>
                <a:latin typeface="Segoe UI Semibold"/>
                <a:cs typeface="Segoe UI Semibold"/>
              </a:rPr>
              <a:t>07  ·  الحالة الحدّية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8000" y="558000"/>
            <a:ext cx="10896119" cy="68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05000"/>
              </a:lnSpc>
              <a:spcAft>
                <a:spcPts val="600"/>
              </a:spcAft>
            </a:pPr>
            <a:r>
              <a:rPr lang="ar-SA" sz="2400" b="1">
                <a:solidFill>
                  <a:srgbClr val="1B2733"/>
                </a:solidFill>
                <a:latin typeface="Segoe UI Semibold"/>
                <a:cs typeface="Segoe UI Semibold"/>
              </a:rPr>
              <a:t>في إعلان المحاسبة: المحادثة العادية اخترعت مهارات، والـ Gem نبّهني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8000" y="1278000"/>
            <a:ext cx="10896119" cy="0"/>
          </a:xfrm>
          <a:prstGeom prst="line">
            <a:avLst/>
          </a:prstGeom>
          <a:ln w="9525">
            <a:solidFill>
              <a:srgbClr val="D5DB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10752119" y="1252800"/>
            <a:ext cx="792000" cy="27940"/>
          </a:xfrm>
          <a:prstGeom prst="rect">
            <a:avLst/>
          </a:prstGeom>
          <a:solidFill>
            <a:srgbClr val="F07F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6" name="Connector 5"/>
          <p:cNvCxnSpPr/>
          <p:nvPr/>
        </p:nvCxnSpPr>
        <p:spPr>
          <a:xfrm>
            <a:off x="648000" y="6444001"/>
            <a:ext cx="10896119" cy="0"/>
          </a:xfrm>
          <a:prstGeom prst="line">
            <a:avLst/>
          </a:prstGeom>
          <a:ln w="9525">
            <a:solidFill>
              <a:srgbClr val="D5DB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728000" y="6498000"/>
            <a:ext cx="9816119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15000"/>
              </a:lnSpc>
              <a:spcAft>
                <a:spcPts val="600"/>
              </a:spcAft>
            </a:pPr>
            <a:r>
              <a:rPr lang="ar-SA" sz="1000" b="0">
                <a:solidFill>
                  <a:srgbClr val="5B6770"/>
                </a:solidFill>
                <a:latin typeface="Segoe UI"/>
                <a:cs typeface="Segoe UI"/>
              </a:rPr>
              <a:t>المشروع النهائي  ·  دورة رفع الإنتاجية بالذكاء الاصطناعي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8000" y="6498000"/>
            <a:ext cx="108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rtl="1">
              <a:lnSpc>
                <a:spcPct val="115000"/>
              </a:lnSpc>
              <a:spcAft>
                <a:spcPts val="600"/>
              </a:spcAft>
            </a:pPr>
            <a:r>
              <a:rPr lang="ar-SA" sz="1000" b="0">
                <a:solidFill>
                  <a:srgbClr val="5B6770"/>
                </a:solidFill>
                <a:latin typeface="Segoe UI"/>
                <a:cs typeface="Segoe UI"/>
              </a:rPr>
              <a:t>8 / 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80119" y="1475999"/>
            <a:ext cx="4464000" cy="28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15000"/>
              </a:lnSpc>
              <a:spcAft>
                <a:spcPts val="600"/>
              </a:spcAft>
            </a:pPr>
            <a:r>
              <a:rPr lang="ar-SA" sz="1400" b="1">
                <a:solidFill>
                  <a:srgbClr val="B42318"/>
                </a:solidFill>
                <a:latin typeface="Segoe UI Semibold"/>
                <a:cs typeface="Segoe UI Semibold"/>
              </a:rPr>
              <a:t>محادثة عادية: «advanced Excel» و«pivot tables» مو في سيفي</a:t>
            </a:r>
          </a:p>
        </p:txBody>
      </p:sp>
      <p:pic>
        <p:nvPicPr>
          <p:cNvPr id="10" name="Picture 9" descr="without_fin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0119" y="2072496"/>
            <a:ext cx="4464000" cy="4063007"/>
          </a:xfrm>
          <a:prstGeom prst="rect">
            <a:avLst/>
          </a:prstGeom>
          <a:ln w="9525">
            <a:solidFill>
              <a:srgbClr val="D5DBE0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648000" y="1475999"/>
            <a:ext cx="5184000" cy="28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15000"/>
              </a:lnSpc>
              <a:spcAft>
                <a:spcPts val="600"/>
              </a:spcAft>
            </a:pPr>
            <a:r>
              <a:rPr lang="ar-SA" sz="1400" b="1">
                <a:solidFill>
                  <a:srgbClr val="1E6B3A"/>
                </a:solidFill>
                <a:latin typeface="Segoe UI Semibold"/>
                <a:cs typeface="Segoe UI Semibold"/>
              </a:rPr>
              <a:t>الـ Gem: «the overall match is low» وسألني قبل لا يكتب</a:t>
            </a:r>
          </a:p>
        </p:txBody>
      </p:sp>
      <p:pic>
        <p:nvPicPr>
          <p:cNvPr id="12" name="Picture 11" descr="gem_fin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000" y="1800000"/>
            <a:ext cx="5184000" cy="2999461"/>
          </a:xfrm>
          <a:prstGeom prst="rect">
            <a:avLst/>
          </a:prstGeom>
          <a:ln w="9525">
            <a:solidFill>
              <a:srgbClr val="D5DBE0"/>
            </a:solidFill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8000" y="324000"/>
            <a:ext cx="10896119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15000"/>
              </a:lnSpc>
              <a:spcAft>
                <a:spcPts val="600"/>
              </a:spcAft>
            </a:pPr>
            <a:r>
              <a:rPr lang="ar-SA" sz="1200" b="1">
                <a:solidFill>
                  <a:srgbClr val="F07F2C"/>
                </a:solidFill>
                <a:latin typeface="Segoe UI Semibold"/>
                <a:cs typeface="Segoe UI Semibold"/>
              </a:rPr>
              <a:t>08  ·  حالة حقيقية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8000" y="558000"/>
            <a:ext cx="10896119" cy="68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05000"/>
              </a:lnSpc>
              <a:spcAft>
                <a:spcPts val="600"/>
              </a:spcAft>
            </a:pPr>
            <a:r>
              <a:rPr lang="ar-SA" sz="2400" b="1">
                <a:solidFill>
                  <a:srgbClr val="1B2733"/>
                </a:solidFill>
                <a:latin typeface="Segoe UI Semibold"/>
                <a:cs typeface="Segoe UI Semibold"/>
              </a:rPr>
              <a:t>إعلان حقيقي من لينكدإن: الـ Gem طلب معدلي بدل ما يخمّنه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8000" y="1278000"/>
            <a:ext cx="10896119" cy="0"/>
          </a:xfrm>
          <a:prstGeom prst="line">
            <a:avLst/>
          </a:prstGeom>
          <a:ln w="9525">
            <a:solidFill>
              <a:srgbClr val="D5DB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10752119" y="1252800"/>
            <a:ext cx="792000" cy="27940"/>
          </a:xfrm>
          <a:prstGeom prst="rect">
            <a:avLst/>
          </a:prstGeom>
          <a:solidFill>
            <a:srgbClr val="F07F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6" name="Connector 5"/>
          <p:cNvCxnSpPr/>
          <p:nvPr/>
        </p:nvCxnSpPr>
        <p:spPr>
          <a:xfrm>
            <a:off x="648000" y="6444001"/>
            <a:ext cx="10896119" cy="0"/>
          </a:xfrm>
          <a:prstGeom prst="line">
            <a:avLst/>
          </a:prstGeom>
          <a:ln w="9525">
            <a:solidFill>
              <a:srgbClr val="D5DB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728000" y="6498000"/>
            <a:ext cx="9816119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15000"/>
              </a:lnSpc>
              <a:spcAft>
                <a:spcPts val="600"/>
              </a:spcAft>
            </a:pPr>
            <a:r>
              <a:rPr lang="ar-SA" sz="1000" b="0">
                <a:solidFill>
                  <a:srgbClr val="5B6770"/>
                </a:solidFill>
                <a:latin typeface="Segoe UI"/>
                <a:cs typeface="Segoe UI"/>
              </a:rPr>
              <a:t>المشروع النهائي  ·  دورة رفع الإنتاجية بالذكاء الاصطناعي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8000" y="6498000"/>
            <a:ext cx="108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rtl="1">
              <a:lnSpc>
                <a:spcPct val="115000"/>
              </a:lnSpc>
              <a:spcAft>
                <a:spcPts val="600"/>
              </a:spcAft>
            </a:pPr>
            <a:r>
              <a:rPr lang="ar-SA" sz="1000" b="0">
                <a:solidFill>
                  <a:srgbClr val="5B6770"/>
                </a:solidFill>
                <a:latin typeface="Segoe UI"/>
                <a:cs typeface="Segoe UI"/>
              </a:rPr>
              <a:t>9 / 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04119" y="1475999"/>
            <a:ext cx="5040000" cy="28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15000"/>
              </a:lnSpc>
              <a:spcAft>
                <a:spcPts val="600"/>
              </a:spcAft>
            </a:pPr>
            <a:r>
              <a:rPr lang="ar-SA" sz="1400" b="1">
                <a:solidFill>
                  <a:srgbClr val="1B2733"/>
                </a:solidFill>
                <a:latin typeface="Segoe UI Semibold"/>
                <a:cs typeface="Segoe UI Semibold"/>
              </a:rPr>
              <a:t>الإعلان: برنامج التدريب التعاوني في علم، يناير 2027</a:t>
            </a:r>
          </a:p>
        </p:txBody>
      </p:sp>
      <p:pic>
        <p:nvPicPr>
          <p:cNvPr id="10" name="Picture 9" descr="elm_post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4119" y="1800000"/>
            <a:ext cx="5040000" cy="1699333"/>
          </a:xfrm>
          <a:prstGeom prst="rect">
            <a:avLst/>
          </a:prstGeom>
          <a:ln w="9525">
            <a:solidFill>
              <a:srgbClr val="D5DBE0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648000" y="1475999"/>
            <a:ext cx="5040000" cy="28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15000"/>
              </a:lnSpc>
              <a:spcAft>
                <a:spcPts val="600"/>
              </a:spcAft>
            </a:pPr>
            <a:r>
              <a:rPr lang="ar-SA" sz="1400" b="1">
                <a:solidFill>
                  <a:srgbClr val="1E6B3A"/>
                </a:solidFill>
                <a:latin typeface="Segoe UI Semibold"/>
                <a:cs typeface="Segoe UI Semibold"/>
              </a:rPr>
              <a:t>رد الـ Gem: المعدل «needs your input»</a:t>
            </a:r>
          </a:p>
        </p:txBody>
      </p:sp>
      <p:pic>
        <p:nvPicPr>
          <p:cNvPr id="12" name="Picture 11" descr="elm_gem_tab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000" y="1800000"/>
            <a:ext cx="5040000" cy="2155129"/>
          </a:xfrm>
          <a:prstGeom prst="rect">
            <a:avLst/>
          </a:prstGeom>
          <a:ln w="9525">
            <a:solidFill>
              <a:srgbClr val="D5DBE0"/>
            </a:solidFill>
          </a:ln>
        </p:spPr>
      </p:pic>
      <p:sp>
        <p:nvSpPr>
          <p:cNvPr id="13" name="TextBox 12"/>
          <p:cNvSpPr txBox="1"/>
          <p:nvPr/>
        </p:nvSpPr>
        <p:spPr>
          <a:xfrm>
            <a:off x="648000" y="4068000"/>
            <a:ext cx="10896119" cy="9274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15000"/>
              </a:lnSpc>
              <a:spcAft>
                <a:spcPts val="600"/>
              </a:spcAft>
            </a:pPr>
            <a:r>
              <a:rPr lang="ar-SA" sz="1500" b="0" dirty="0">
                <a:solidFill>
                  <a:srgbClr val="F07F2C"/>
                </a:solidFill>
                <a:latin typeface="Segoe UI"/>
                <a:cs typeface="Segoe UI"/>
              </a:rPr>
              <a:t>■  </a:t>
            </a:r>
            <a:r>
              <a:rPr lang="ar-SA" sz="1500" b="1" dirty="0">
                <a:solidFill>
                  <a:srgbClr val="1B2733"/>
                </a:solidFill>
                <a:latin typeface="Segoe UI Semibold"/>
                <a:cs typeface="Segoe UI Semibold"/>
              </a:rPr>
              <a:t>النتيجة: </a:t>
            </a:r>
            <a:r>
              <a:rPr lang="ar-SA" sz="1500" b="0" dirty="0">
                <a:solidFill>
                  <a:srgbClr val="1B2733"/>
                </a:solidFill>
                <a:latin typeface="Segoe UI"/>
                <a:cs typeface="Segoe UI"/>
              </a:rPr>
              <a:t>ما أضاف أي معلومة </a:t>
            </a:r>
            <a:r>
              <a:rPr lang="ar-SA" sz="1500" b="0" dirty="0" err="1">
                <a:solidFill>
                  <a:srgbClr val="1B2733"/>
                </a:solidFill>
                <a:latin typeface="Segoe UI"/>
                <a:cs typeface="Segoe UI"/>
              </a:rPr>
              <a:t>مو</a:t>
            </a:r>
            <a:r>
              <a:rPr lang="ar-SA" sz="1500" b="0" dirty="0">
                <a:solidFill>
                  <a:srgbClr val="1B2733"/>
                </a:solidFill>
                <a:latin typeface="Segoe UI"/>
                <a:cs typeface="Segoe UI"/>
              </a:rPr>
              <a:t> في سيفي، والرسالة 122 كلمة، وبدون حشو.</a:t>
            </a:r>
          </a:p>
          <a:p>
            <a:pPr algn="r" rtl="1">
              <a:lnSpc>
                <a:spcPct val="115000"/>
              </a:lnSpc>
              <a:spcAft>
                <a:spcPts val="600"/>
              </a:spcAft>
            </a:pPr>
            <a:r>
              <a:rPr lang="ar-SA" sz="1500" b="0" dirty="0">
                <a:solidFill>
                  <a:srgbClr val="F07F2C"/>
                </a:solidFill>
                <a:latin typeface="Segoe UI"/>
                <a:cs typeface="Segoe UI"/>
              </a:rPr>
              <a:t>■  </a:t>
            </a:r>
            <a:r>
              <a:rPr lang="ar-SA" sz="1500" b="1" dirty="0">
                <a:solidFill>
                  <a:srgbClr val="1B2733"/>
                </a:solidFill>
                <a:latin typeface="Segoe UI Semibold"/>
                <a:cs typeface="Segoe UI Semibold"/>
              </a:rPr>
              <a:t>الوقت: </a:t>
            </a:r>
            <a:r>
              <a:rPr lang="ar-SA" sz="1500" b="0" dirty="0">
                <a:solidFill>
                  <a:srgbClr val="1B2733"/>
                </a:solidFill>
                <a:latin typeface="Segoe UI"/>
                <a:cs typeface="Segoe UI"/>
              </a:rPr>
              <a:t>التوليد ثواني، والتدقيق 5 دقائق على حسب قياسي في التجربة.</a:t>
            </a:r>
          </a:p>
          <a:p>
            <a:pPr algn="r" rtl="1">
              <a:lnSpc>
                <a:spcPct val="115000"/>
              </a:lnSpc>
              <a:spcAft>
                <a:spcPts val="600"/>
              </a:spcAft>
            </a:pPr>
            <a:r>
              <a:rPr lang="ar-SA" sz="1500" b="0" dirty="0">
                <a:solidFill>
                  <a:srgbClr val="F07F2C"/>
                </a:solidFill>
                <a:latin typeface="Segoe UI"/>
                <a:cs typeface="Segoe UI"/>
              </a:rPr>
              <a:t>■  </a:t>
            </a:r>
            <a:r>
              <a:rPr lang="ar-SA" sz="1500" b="1" dirty="0">
                <a:solidFill>
                  <a:srgbClr val="F07F2C"/>
                </a:solidFill>
                <a:latin typeface="Segoe UI Semibold"/>
                <a:cs typeface="Segoe UI Semibold"/>
              </a:rPr>
              <a:t>الخطوة بعد استعمال المساعد: </a:t>
            </a:r>
            <a:r>
              <a:rPr lang="ar-SA" sz="1500" b="0" dirty="0">
                <a:solidFill>
                  <a:srgbClr val="1B2733"/>
                </a:solidFill>
                <a:latin typeface="Segoe UI"/>
                <a:cs typeface="Segoe UI"/>
              </a:rPr>
              <a:t>أكتب معدلي، واراجع الرسالة، واقدم.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8000" y="324000"/>
            <a:ext cx="10896119" cy="1940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15000"/>
              </a:lnSpc>
              <a:spcAft>
                <a:spcPts val="600"/>
              </a:spcAft>
            </a:pPr>
            <a:r>
              <a:rPr lang="ar-SA" sz="1200" b="1" dirty="0">
                <a:solidFill>
                  <a:srgbClr val="F07F2C"/>
                </a:solidFill>
                <a:latin typeface="Segoe UI Semibold"/>
                <a:cs typeface="Segoe UI Semibold"/>
              </a:rPr>
              <a:t>09  ·  النتيجة </a:t>
            </a:r>
            <a:r>
              <a:rPr lang="ar-SA" sz="1200" b="1" dirty="0" err="1">
                <a:solidFill>
                  <a:srgbClr val="F07F2C"/>
                </a:solidFill>
                <a:latin typeface="Segoe UI Semibold"/>
                <a:cs typeface="Segoe UI Semibold"/>
              </a:rPr>
              <a:t>التقريبيه</a:t>
            </a:r>
            <a:r>
              <a:rPr lang="ar-SA" sz="1200" b="1" dirty="0">
                <a:solidFill>
                  <a:srgbClr val="F07F2C"/>
                </a:solidFill>
                <a:latin typeface="Segoe UI Semibold"/>
                <a:cs typeface="Segoe UI Semibold"/>
              </a:rPr>
              <a:t> لو عند تكرار </a:t>
            </a:r>
            <a:r>
              <a:rPr lang="ar-SA" sz="1200" b="1" dirty="0" err="1">
                <a:solidFill>
                  <a:srgbClr val="F07F2C"/>
                </a:solidFill>
                <a:latin typeface="Segoe UI Semibold"/>
                <a:cs typeface="Segoe UI Semibold"/>
              </a:rPr>
              <a:t>المهمه</a:t>
            </a:r>
            <a:endParaRPr lang="ar-SA" sz="1200" b="1" dirty="0">
              <a:solidFill>
                <a:srgbClr val="F07F2C"/>
              </a:solidFill>
              <a:latin typeface="Segoe UI Semibold"/>
              <a:cs typeface="Segoe UI Semibold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48000" y="558000"/>
            <a:ext cx="10896119" cy="3605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05000"/>
              </a:lnSpc>
              <a:spcAft>
                <a:spcPts val="600"/>
              </a:spcAft>
            </a:pPr>
            <a:r>
              <a:rPr lang="ar-SA" sz="2400" b="1" dirty="0">
                <a:solidFill>
                  <a:srgbClr val="1B2733"/>
                </a:solidFill>
                <a:latin typeface="Segoe UI Semibold"/>
                <a:cs typeface="Segoe UI Semibold"/>
              </a:rPr>
              <a:t>توفير 7 دقائق لكل طلب في تجربة يوم واحد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8000" y="1278000"/>
            <a:ext cx="10896119" cy="0"/>
          </a:xfrm>
          <a:prstGeom prst="line">
            <a:avLst/>
          </a:prstGeom>
          <a:ln w="9525">
            <a:solidFill>
              <a:srgbClr val="D5DB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10752119" y="1252800"/>
            <a:ext cx="792000" cy="27940"/>
          </a:xfrm>
          <a:prstGeom prst="rect">
            <a:avLst/>
          </a:prstGeom>
          <a:solidFill>
            <a:srgbClr val="F07F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6" name="Connector 5"/>
          <p:cNvCxnSpPr/>
          <p:nvPr/>
        </p:nvCxnSpPr>
        <p:spPr>
          <a:xfrm>
            <a:off x="648000" y="6444001"/>
            <a:ext cx="10896119" cy="0"/>
          </a:xfrm>
          <a:prstGeom prst="line">
            <a:avLst/>
          </a:prstGeom>
          <a:ln w="9525">
            <a:solidFill>
              <a:srgbClr val="D5DB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728000" y="6498000"/>
            <a:ext cx="9816119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15000"/>
              </a:lnSpc>
              <a:spcAft>
                <a:spcPts val="600"/>
              </a:spcAft>
            </a:pPr>
            <a:r>
              <a:rPr lang="ar-SA" sz="1000" b="0">
                <a:solidFill>
                  <a:srgbClr val="5B6770"/>
                </a:solidFill>
                <a:latin typeface="Segoe UI"/>
                <a:cs typeface="Segoe UI"/>
              </a:rPr>
              <a:t>المشروع النهائي  ·  دورة رفع الإنتاجية بالذكاء الاصطناعي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8000" y="6498000"/>
            <a:ext cx="108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rtl="1">
              <a:lnSpc>
                <a:spcPct val="115000"/>
              </a:lnSpc>
              <a:spcAft>
                <a:spcPts val="600"/>
              </a:spcAft>
            </a:pPr>
            <a:r>
              <a:rPr lang="ar-SA" sz="1000" b="0">
                <a:solidFill>
                  <a:srgbClr val="5B6770"/>
                </a:solidFill>
                <a:latin typeface="Segoe UI"/>
                <a:cs typeface="Segoe UI"/>
              </a:rPr>
              <a:t>10 / 15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7034432"/>
              </p:ext>
            </p:extLst>
          </p:nvPr>
        </p:nvGraphicFramePr>
        <p:xfrm>
          <a:off x="2652118" y="1584000"/>
          <a:ext cx="8891999" cy="2678708"/>
        </p:xfrm>
        <a:graphic>
          <a:graphicData uri="http://schemas.openxmlformats.org/drawingml/2006/table">
            <a:tbl>
              <a:tblPr rtl="1"/>
              <a:tblGrid>
                <a:gridCol w="334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59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0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8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algn="r" rtl="1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lang="ar-SA" sz="1400" b="1" dirty="0">
                          <a:solidFill>
                            <a:srgbClr val="25343F"/>
                          </a:solidFill>
                          <a:latin typeface="Segoe UI Semibold"/>
                          <a:cs typeface="Segoe UI Semibold"/>
                        </a:rPr>
                        <a:t>المؤشر</a:t>
                      </a:r>
                    </a:p>
                  </a:txBody>
                  <a:tcPr marL="90000" marR="90000" marT="43200" marB="432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 cmpd="sng">
                      <a:solidFill>
                        <a:srgbClr val="25343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lang="ar-SA" sz="1400" b="1">
                          <a:solidFill>
                            <a:srgbClr val="25343F"/>
                          </a:solidFill>
                          <a:latin typeface="Segoe UI Semibold"/>
                          <a:cs typeface="Segoe UI Semibold"/>
                        </a:rPr>
                        <a:t>قبل (بيدي)</a:t>
                      </a:r>
                    </a:p>
                  </a:txBody>
                  <a:tcPr marL="90000" marR="90000" marT="43200" marB="432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 cmpd="sng">
                      <a:solidFill>
                        <a:srgbClr val="25343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lang="ar-SA" sz="1400" b="1">
                          <a:solidFill>
                            <a:srgbClr val="25343F"/>
                          </a:solidFill>
                          <a:latin typeface="Segoe UI Semibold"/>
                          <a:cs typeface="Segoe UI Semibold"/>
                        </a:rPr>
                        <a:t>محادثة عادية</a:t>
                      </a:r>
                    </a:p>
                  </a:txBody>
                  <a:tcPr marL="90000" marR="90000" marT="43200" marB="432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 cmpd="sng">
                      <a:solidFill>
                        <a:srgbClr val="25343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lang="ar-SA" sz="1400" b="1">
                          <a:solidFill>
                            <a:srgbClr val="25343F"/>
                          </a:solidFill>
                          <a:latin typeface="Segoe UI Semibold"/>
                          <a:cs typeface="Segoe UI Semibold"/>
                        </a:rPr>
                        <a:t>التجربة 1: الـ Gem</a:t>
                      </a:r>
                    </a:p>
                  </a:txBody>
                  <a:tcPr marL="90000" marR="90000" marT="43200" marB="432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 cmpd="sng">
                      <a:solidFill>
                        <a:srgbClr val="25343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r" rtl="1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lang="ar-SA" sz="1400" b="1">
                          <a:solidFill>
                            <a:srgbClr val="1B2733"/>
                          </a:solidFill>
                          <a:latin typeface="Segoe UI Semibold"/>
                          <a:cs typeface="Segoe UI Semibold"/>
                        </a:rPr>
                        <a:t>الوقت لكل طلب مع التدقيق</a:t>
                      </a:r>
                    </a:p>
                  </a:txBody>
                  <a:tcPr marL="90000" marR="90000" marT="43200" marB="43200" anchor="ctr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rgbClr val="25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mpd="sng">
                      <a:solidFill>
                        <a:srgbClr val="D5DB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lang="ar-SA" sz="1400" b="0" dirty="0">
                          <a:solidFill>
                            <a:srgbClr val="1B2733"/>
                          </a:solidFill>
                          <a:latin typeface="Segoe UI"/>
                          <a:cs typeface="Segoe UI"/>
                        </a:rPr>
                        <a:t>12 دقيقة</a:t>
                      </a:r>
                    </a:p>
                  </a:txBody>
                  <a:tcPr marL="90000" marR="90000" marT="43200" marB="43200" anchor="ctr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rgbClr val="25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mpd="sng">
                      <a:solidFill>
                        <a:srgbClr val="D5DB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lang="ar-SA" sz="1400" b="0" dirty="0">
                          <a:solidFill>
                            <a:srgbClr val="1B2733"/>
                          </a:solidFill>
                          <a:latin typeface="Segoe UI"/>
                          <a:cs typeface="Segoe UI"/>
                        </a:rPr>
                        <a:t>كثير لان كل شي تقريبا لازم يتدقق</a:t>
                      </a:r>
                    </a:p>
                  </a:txBody>
                  <a:tcPr marL="90000" marR="90000" marT="43200" marB="43200" anchor="ctr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rgbClr val="25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mpd="sng">
                      <a:solidFill>
                        <a:srgbClr val="D5DB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lang="ar-SA" sz="1400" b="0">
                          <a:solidFill>
                            <a:srgbClr val="1B2733"/>
                          </a:solidFill>
                          <a:latin typeface="Segoe UI"/>
                          <a:cs typeface="Segoe UI"/>
                        </a:rPr>
                        <a:t>5 دقائق</a:t>
                      </a:r>
                    </a:p>
                  </a:txBody>
                  <a:tcPr marL="90000" marR="90000" marT="43200" marB="43200" anchor="ctr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rgbClr val="25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mpd="sng">
                      <a:solidFill>
                        <a:srgbClr val="D5DBE0"/>
                      </a:solidFill>
                    </a:lnB>
                    <a:solidFill>
                      <a:srgbClr val="F3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r" rtl="1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lang="ar-SA" sz="1400" b="1">
                          <a:solidFill>
                            <a:srgbClr val="1B2733"/>
                          </a:solidFill>
                          <a:latin typeface="Segoe UI Semibold"/>
                          <a:cs typeface="Segoe UI Semibold"/>
                        </a:rPr>
                        <a:t>حالات فيها معلومة مو في سيفي</a:t>
                      </a:r>
                    </a:p>
                  </a:txBody>
                  <a:tcPr marL="90000" marR="90000" marT="43200" marB="432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mpd="sng">
                      <a:solidFill>
                        <a:srgbClr val="D5DB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lang="ar-SA" sz="1400" b="0" dirty="0">
                          <a:solidFill>
                            <a:srgbClr val="1B2733"/>
                          </a:solidFill>
                          <a:latin typeface="Segoe UI"/>
                          <a:cs typeface="Segoe UI"/>
                        </a:rPr>
                        <a:t>—</a:t>
                      </a:r>
                    </a:p>
                  </a:txBody>
                  <a:tcPr marL="90000" marR="90000" marT="43200" marB="432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mpd="sng">
                      <a:solidFill>
                        <a:srgbClr val="D5DB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lang="ar-SA" sz="1400" b="0">
                          <a:solidFill>
                            <a:srgbClr val="1B2733"/>
                          </a:solidFill>
                          <a:latin typeface="Segoe UI"/>
                          <a:cs typeface="Segoe UI"/>
                        </a:rPr>
                        <a:t>3 من 3</a:t>
                      </a:r>
                    </a:p>
                  </a:txBody>
                  <a:tcPr marL="90000" marR="90000" marT="43200" marB="432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mpd="sng">
                      <a:solidFill>
                        <a:srgbClr val="D5DB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lang="ar-SA" sz="1400" b="0">
                          <a:solidFill>
                            <a:srgbClr val="1B2733"/>
                          </a:solidFill>
                          <a:latin typeface="Segoe UI"/>
                          <a:cs typeface="Segoe UI"/>
                        </a:rPr>
                        <a:t>0 من 3</a:t>
                      </a:r>
                    </a:p>
                  </a:txBody>
                  <a:tcPr marL="90000" marR="90000" marT="43200" marB="432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mpd="sng">
                      <a:solidFill>
                        <a:srgbClr val="D5DBE0"/>
                      </a:solidFill>
                    </a:lnB>
                    <a:solidFill>
                      <a:srgbClr val="F3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r" rtl="1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lang="ar-SA" sz="1400" b="1">
                          <a:solidFill>
                            <a:srgbClr val="1B2733"/>
                          </a:solidFill>
                          <a:latin typeface="Segoe UI Semibold"/>
                          <a:cs typeface="Segoe UI Semibold"/>
                        </a:rPr>
                        <a:t>كلمات حشو</a:t>
                      </a:r>
                    </a:p>
                  </a:txBody>
                  <a:tcPr marL="90000" marR="90000" marT="43200" marB="432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mpd="sng">
                      <a:solidFill>
                        <a:srgbClr val="D5DB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lang="ar-SA" sz="1400" b="0">
                          <a:solidFill>
                            <a:srgbClr val="1B2733"/>
                          </a:solidFill>
                          <a:latin typeface="Segoe UI"/>
                          <a:cs typeface="Segoe UI"/>
                        </a:rPr>
                        <a:t>—</a:t>
                      </a:r>
                    </a:p>
                  </a:txBody>
                  <a:tcPr marL="90000" marR="90000" marT="43200" marB="432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mpd="sng">
                      <a:solidFill>
                        <a:srgbClr val="D5DB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lang="ar-SA" sz="1400" b="0">
                          <a:solidFill>
                            <a:srgbClr val="1B2733"/>
                          </a:solidFill>
                          <a:latin typeface="Segoe UI"/>
                          <a:cs typeface="Segoe UI"/>
                        </a:rPr>
                        <a:t>7</a:t>
                      </a:r>
                    </a:p>
                  </a:txBody>
                  <a:tcPr marL="90000" marR="90000" marT="43200" marB="432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mpd="sng">
                      <a:solidFill>
                        <a:srgbClr val="D5DB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lang="ar-SA" sz="1400" b="0">
                          <a:solidFill>
                            <a:srgbClr val="1B2733"/>
                          </a:solidFill>
                          <a:latin typeface="Segoe UI"/>
                          <a:cs typeface="Segoe UI"/>
                        </a:rPr>
                        <a:t>0</a:t>
                      </a:r>
                    </a:p>
                  </a:txBody>
                  <a:tcPr marL="90000" marR="90000" marT="43200" marB="432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mpd="sng">
                      <a:solidFill>
                        <a:srgbClr val="D5DBE0"/>
                      </a:solidFill>
                    </a:lnB>
                    <a:solidFill>
                      <a:srgbClr val="F3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r" rtl="1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lang="ar-SA" sz="1400" b="1">
                          <a:solidFill>
                            <a:srgbClr val="1B2733"/>
                          </a:solidFill>
                          <a:latin typeface="Segoe UI Semibold"/>
                          <a:cs typeface="Segoe UI Semibold"/>
                        </a:rPr>
                        <a:t>الرسالة أقل من 150 كلمة</a:t>
                      </a:r>
                    </a:p>
                  </a:txBody>
                  <a:tcPr marL="90000" marR="90000" marT="43200" marB="432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mpd="sng">
                      <a:solidFill>
                        <a:srgbClr val="D5DB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lang="ar-SA" sz="1400" b="0">
                          <a:solidFill>
                            <a:srgbClr val="1B2733"/>
                          </a:solidFill>
                          <a:latin typeface="Segoe UI"/>
                          <a:cs typeface="Segoe UI"/>
                        </a:rPr>
                        <a:t>—</a:t>
                      </a:r>
                    </a:p>
                  </a:txBody>
                  <a:tcPr marL="90000" marR="90000" marT="43200" marB="432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mpd="sng">
                      <a:solidFill>
                        <a:srgbClr val="D5DB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lang="ar-SA" sz="1400" b="0" dirty="0">
                          <a:solidFill>
                            <a:srgbClr val="1B2733"/>
                          </a:solidFill>
                          <a:latin typeface="Segoe UI"/>
                          <a:cs typeface="Segoe UI"/>
                        </a:rPr>
                        <a:t>ما طلبته منها</a:t>
                      </a:r>
                    </a:p>
                  </a:txBody>
                  <a:tcPr marL="90000" marR="90000" marT="43200" marB="432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mpd="sng">
                      <a:solidFill>
                        <a:srgbClr val="D5DB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lang="ar-SA" sz="1400" b="0">
                          <a:solidFill>
                            <a:srgbClr val="1B2733"/>
                          </a:solidFill>
                          <a:latin typeface="Segoe UI"/>
                          <a:cs typeface="Segoe UI"/>
                        </a:rPr>
                        <a:t>نعم</a:t>
                      </a:r>
                    </a:p>
                  </a:txBody>
                  <a:tcPr marL="90000" marR="90000" marT="43200" marB="432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mpd="sng">
                      <a:solidFill>
                        <a:srgbClr val="D5DBE0"/>
                      </a:solidFill>
                    </a:lnB>
                    <a:solidFill>
                      <a:srgbClr val="F3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r" rtl="1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lang="ar-SA" sz="1400" b="1">
                          <a:solidFill>
                            <a:srgbClr val="1B2733"/>
                          </a:solidFill>
                          <a:latin typeface="Segoe UI Semibold"/>
                          <a:cs typeface="Segoe UI Semibold"/>
                        </a:rPr>
                        <a:t>ينبّهني إذا الإعلان بعيد عن تخصصي</a:t>
                      </a:r>
                    </a:p>
                  </a:txBody>
                  <a:tcPr marL="90000" marR="90000" marT="43200" marB="432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mpd="sng">
                      <a:solidFill>
                        <a:srgbClr val="D5DB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lang="ar-SA" sz="1400" b="0">
                          <a:solidFill>
                            <a:srgbClr val="1B2733"/>
                          </a:solidFill>
                          <a:latin typeface="Segoe UI"/>
                          <a:cs typeface="Segoe UI"/>
                        </a:rPr>
                        <a:t>—</a:t>
                      </a:r>
                    </a:p>
                  </a:txBody>
                  <a:tcPr marL="90000" marR="90000" marT="43200" marB="432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mpd="sng">
                      <a:solidFill>
                        <a:srgbClr val="D5DB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lang="ar-SA" sz="1400" b="0">
                          <a:solidFill>
                            <a:srgbClr val="1B2733"/>
                          </a:solidFill>
                          <a:latin typeface="Segoe UI"/>
                          <a:cs typeface="Segoe UI"/>
                        </a:rPr>
                        <a:t>لا</a:t>
                      </a:r>
                    </a:p>
                  </a:txBody>
                  <a:tcPr marL="90000" marR="90000" marT="43200" marB="432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mpd="sng">
                      <a:solidFill>
                        <a:srgbClr val="D5DB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lang="ar-SA" sz="1400" b="0" dirty="0">
                          <a:solidFill>
                            <a:srgbClr val="1B2733"/>
                          </a:solidFill>
                          <a:latin typeface="Segoe UI"/>
                          <a:cs typeface="Segoe UI"/>
                        </a:rPr>
                        <a:t>نعم</a:t>
                      </a:r>
                    </a:p>
                  </a:txBody>
                  <a:tcPr marL="90000" marR="90000" marT="43200" marB="432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mpd="sng">
                      <a:solidFill>
                        <a:srgbClr val="D5DBE0"/>
                      </a:solidFill>
                    </a:lnB>
                    <a:solidFill>
                      <a:srgbClr val="F3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48000" y="4428000"/>
            <a:ext cx="10896119" cy="610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15000"/>
              </a:lnSpc>
              <a:spcAft>
                <a:spcPts val="800"/>
              </a:spcAft>
            </a:pPr>
            <a:r>
              <a:rPr lang="ar-SA" sz="1500" b="0" dirty="0">
                <a:solidFill>
                  <a:srgbClr val="F07F2C"/>
                </a:solidFill>
                <a:latin typeface="Segoe UI"/>
                <a:cs typeface="Segoe UI"/>
              </a:rPr>
              <a:t>■  </a:t>
            </a:r>
            <a:r>
              <a:rPr lang="ar-SA" sz="1500" b="1" dirty="0">
                <a:solidFill>
                  <a:srgbClr val="1B2733"/>
                </a:solidFill>
                <a:latin typeface="Segoe UI Semibold"/>
                <a:cs typeface="Segoe UI Semibold"/>
              </a:rPr>
              <a:t>لو ثبتت النتيجة </a:t>
            </a:r>
            <a:r>
              <a:rPr lang="ar-SA" sz="1500" b="0" dirty="0">
                <a:solidFill>
                  <a:srgbClr val="1B2733"/>
                </a:solidFill>
                <a:latin typeface="Segoe UI"/>
                <a:cs typeface="Segoe UI"/>
              </a:rPr>
              <a:t>على 5 إلى 10 طلبات بالشهر: توفير متوقع من 35 إلى 70 دقيقة بالشهر. هذا توقع، </a:t>
            </a:r>
            <a:r>
              <a:rPr lang="ar-SA" sz="1500" b="0" dirty="0" err="1">
                <a:solidFill>
                  <a:srgbClr val="1B2733"/>
                </a:solidFill>
                <a:latin typeface="Segoe UI"/>
                <a:cs typeface="Segoe UI"/>
              </a:rPr>
              <a:t>مو</a:t>
            </a:r>
            <a:r>
              <a:rPr lang="ar-SA" sz="1500" b="0" dirty="0">
                <a:solidFill>
                  <a:srgbClr val="1B2733"/>
                </a:solidFill>
                <a:latin typeface="Segoe UI"/>
                <a:cs typeface="Segoe UI"/>
              </a:rPr>
              <a:t> قياس.</a:t>
            </a:r>
          </a:p>
          <a:p>
            <a:pPr algn="r" rtl="1">
              <a:lnSpc>
                <a:spcPct val="115000"/>
              </a:lnSpc>
              <a:spcAft>
                <a:spcPts val="800"/>
              </a:spcAft>
            </a:pPr>
            <a:r>
              <a:rPr lang="ar-SA" sz="1500" b="0" dirty="0">
                <a:solidFill>
                  <a:srgbClr val="F07F2C"/>
                </a:solidFill>
                <a:latin typeface="Segoe UI"/>
                <a:cs typeface="Segoe UI"/>
              </a:rPr>
              <a:t>■  </a:t>
            </a:r>
            <a:r>
              <a:rPr lang="ar-SA" sz="1500" b="1" dirty="0">
                <a:solidFill>
                  <a:srgbClr val="1B2733"/>
                </a:solidFill>
                <a:latin typeface="Segoe UI Semibold"/>
                <a:cs typeface="Segoe UI Semibold"/>
              </a:rPr>
              <a:t>معيار القبول: </a:t>
            </a:r>
            <a:r>
              <a:rPr lang="ar-SA" sz="1500" b="0" dirty="0" err="1">
                <a:solidFill>
                  <a:srgbClr val="1B2733"/>
                </a:solidFill>
                <a:latin typeface="Segoe UI"/>
                <a:cs typeface="Segoe UI"/>
              </a:rPr>
              <a:t>الGem</a:t>
            </a:r>
            <a:r>
              <a:rPr lang="ar-SA" sz="1500" b="0" dirty="0">
                <a:solidFill>
                  <a:srgbClr val="1B2733"/>
                </a:solidFill>
                <a:latin typeface="Segoe UI"/>
                <a:cs typeface="Segoe UI"/>
              </a:rPr>
              <a:t> حققه من المرة الأولى في الحالات الثلاث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8000" y="324000"/>
            <a:ext cx="10896119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15000"/>
              </a:lnSpc>
              <a:spcAft>
                <a:spcPts val="600"/>
              </a:spcAft>
            </a:pPr>
            <a:r>
              <a:rPr lang="ar-SA" sz="1200" b="1">
                <a:solidFill>
                  <a:srgbClr val="F07F2C"/>
                </a:solidFill>
                <a:latin typeface="Segoe UI Semibold"/>
                <a:cs typeface="Segoe UI Semibold"/>
              </a:rPr>
              <a:t>10  ·  التحليل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8000" y="558000"/>
            <a:ext cx="10896119" cy="68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05000"/>
              </a:lnSpc>
              <a:spcAft>
                <a:spcPts val="600"/>
              </a:spcAft>
            </a:pPr>
            <a:r>
              <a:rPr lang="ar-SA" sz="2400" b="1">
                <a:solidFill>
                  <a:srgbClr val="1B2733"/>
                </a:solidFill>
                <a:latin typeface="Segoe UI Semibold"/>
                <a:cs typeface="Segoe UI Semibold"/>
              </a:rPr>
              <a:t>التعليمات صنعت الفرق، والوقت انتقل من الكتابة للتدقيق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8000" y="1278000"/>
            <a:ext cx="10896119" cy="0"/>
          </a:xfrm>
          <a:prstGeom prst="line">
            <a:avLst/>
          </a:prstGeom>
          <a:ln w="9525">
            <a:solidFill>
              <a:srgbClr val="D5DB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10752119" y="1252800"/>
            <a:ext cx="792000" cy="27940"/>
          </a:xfrm>
          <a:prstGeom prst="rect">
            <a:avLst/>
          </a:prstGeom>
          <a:solidFill>
            <a:srgbClr val="F07F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6" name="Connector 5"/>
          <p:cNvCxnSpPr/>
          <p:nvPr/>
        </p:nvCxnSpPr>
        <p:spPr>
          <a:xfrm>
            <a:off x="648000" y="6444001"/>
            <a:ext cx="10896119" cy="0"/>
          </a:xfrm>
          <a:prstGeom prst="line">
            <a:avLst/>
          </a:prstGeom>
          <a:ln w="9525">
            <a:solidFill>
              <a:srgbClr val="D5DB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728000" y="6498000"/>
            <a:ext cx="9816119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15000"/>
              </a:lnSpc>
              <a:spcAft>
                <a:spcPts val="600"/>
              </a:spcAft>
            </a:pPr>
            <a:r>
              <a:rPr lang="ar-SA" sz="1000" b="0">
                <a:solidFill>
                  <a:srgbClr val="5B6770"/>
                </a:solidFill>
                <a:latin typeface="Segoe UI"/>
                <a:cs typeface="Segoe UI"/>
              </a:rPr>
              <a:t>المشروع النهائي  ·  دورة رفع الإنتاجية بالذكاء الاصطناعي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8000" y="6498000"/>
            <a:ext cx="108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rtl="1">
              <a:lnSpc>
                <a:spcPct val="115000"/>
              </a:lnSpc>
              <a:spcAft>
                <a:spcPts val="600"/>
              </a:spcAft>
            </a:pPr>
            <a:r>
              <a:rPr lang="ar-SA" sz="1000" b="0">
                <a:solidFill>
                  <a:srgbClr val="5B6770"/>
                </a:solidFill>
                <a:latin typeface="Segoe UI"/>
                <a:cs typeface="Segoe UI"/>
              </a:rPr>
              <a:t>11 / 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8000" y="1620000"/>
            <a:ext cx="10896119" cy="14853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15000"/>
              </a:lnSpc>
              <a:spcAft>
                <a:spcPts val="1200"/>
              </a:spcAft>
            </a:pPr>
            <a:r>
              <a:rPr lang="ar-SA" sz="1700" b="0" dirty="0">
                <a:solidFill>
                  <a:srgbClr val="F07F2C"/>
                </a:solidFill>
                <a:latin typeface="Segoe UI"/>
                <a:cs typeface="Segoe UI"/>
              </a:rPr>
              <a:t>■  </a:t>
            </a:r>
            <a:r>
              <a:rPr lang="ar-SA" sz="1700" b="1" dirty="0">
                <a:solidFill>
                  <a:srgbClr val="1B2733"/>
                </a:solidFill>
                <a:latin typeface="Segoe UI Semibold"/>
                <a:cs typeface="Segoe UI Semibold"/>
              </a:rPr>
              <a:t>الوقت انتقل من الكتابة للتدقيق. </a:t>
            </a:r>
            <a:r>
              <a:rPr lang="ar-SA" sz="1700" b="0" dirty="0">
                <a:solidFill>
                  <a:srgbClr val="1B2733"/>
                </a:solidFill>
                <a:latin typeface="Segoe UI"/>
                <a:cs typeface="Segoe UI"/>
              </a:rPr>
              <a:t>الكتابة صارت ثواني، والتدقيق هو الخمس دقائق. يعني مهارتي الحين هي التدقيق.</a:t>
            </a:r>
          </a:p>
          <a:p>
            <a:pPr algn="r" rtl="1">
              <a:lnSpc>
                <a:spcPct val="115000"/>
              </a:lnSpc>
              <a:spcAft>
                <a:spcPts val="1200"/>
              </a:spcAft>
            </a:pPr>
            <a:r>
              <a:rPr lang="ar-SA" sz="1700" b="0" dirty="0">
                <a:solidFill>
                  <a:srgbClr val="F07F2C"/>
                </a:solidFill>
                <a:latin typeface="Segoe UI"/>
                <a:cs typeface="Segoe UI"/>
              </a:rPr>
              <a:t>■  </a:t>
            </a:r>
            <a:r>
              <a:rPr lang="ar-SA" sz="1700" b="1" dirty="0">
                <a:solidFill>
                  <a:srgbClr val="1B2733"/>
                </a:solidFill>
                <a:latin typeface="Segoe UI Semibold"/>
                <a:cs typeface="Segoe UI Semibold"/>
              </a:rPr>
              <a:t>المحادثة العادية سريعة، بس ما </a:t>
            </a:r>
            <a:r>
              <a:rPr lang="ar-SA" sz="1700" b="1" dirty="0" err="1">
                <a:solidFill>
                  <a:srgbClr val="1B2733"/>
                </a:solidFill>
                <a:latin typeface="Segoe UI Semibold"/>
                <a:cs typeface="Segoe UI Semibold"/>
              </a:rPr>
              <a:t>ينوثق</a:t>
            </a:r>
            <a:r>
              <a:rPr lang="ar-SA" sz="1700" b="1" dirty="0">
                <a:solidFill>
                  <a:srgbClr val="1B2733"/>
                </a:solidFill>
                <a:latin typeface="Segoe UI Semibold"/>
                <a:cs typeface="Segoe UI Semibold"/>
              </a:rPr>
              <a:t> فيها. </a:t>
            </a:r>
            <a:r>
              <a:rPr lang="ar-SA" sz="1700" b="0" dirty="0">
                <a:solidFill>
                  <a:srgbClr val="1B2733"/>
                </a:solidFill>
                <a:latin typeface="Segoe UI"/>
                <a:cs typeface="Segoe UI"/>
              </a:rPr>
              <a:t>أضافت معلومات </a:t>
            </a:r>
            <a:r>
              <a:rPr lang="ar-SA" sz="1700" b="0" dirty="0" err="1">
                <a:solidFill>
                  <a:srgbClr val="1B2733"/>
                </a:solidFill>
                <a:latin typeface="Segoe UI"/>
                <a:cs typeface="Segoe UI"/>
              </a:rPr>
              <a:t>مو</a:t>
            </a:r>
            <a:r>
              <a:rPr lang="ar-SA" sz="1700" b="0" dirty="0">
                <a:solidFill>
                  <a:srgbClr val="1B2733"/>
                </a:solidFill>
                <a:latin typeface="Segoe UI"/>
                <a:cs typeface="Segoe UI"/>
              </a:rPr>
              <a:t> في سيفي في الحالات الثلاث، وأخطرها مهارات محاسبة كاملة.</a:t>
            </a:r>
          </a:p>
          <a:p>
            <a:pPr algn="r" rtl="1">
              <a:lnSpc>
                <a:spcPct val="115000"/>
              </a:lnSpc>
              <a:spcAft>
                <a:spcPts val="1200"/>
              </a:spcAft>
            </a:pPr>
            <a:r>
              <a:rPr lang="ar-SA" sz="1700" b="0" dirty="0">
                <a:solidFill>
                  <a:srgbClr val="F07F2C"/>
                </a:solidFill>
                <a:latin typeface="Segoe UI"/>
                <a:cs typeface="Segoe UI"/>
              </a:rPr>
              <a:t>■  </a:t>
            </a:r>
            <a:r>
              <a:rPr lang="ar-SA" sz="1700" b="1" dirty="0">
                <a:solidFill>
                  <a:srgbClr val="1B2733"/>
                </a:solidFill>
                <a:latin typeface="Segoe UI Semibold"/>
                <a:cs typeface="Segoe UI Semibold"/>
              </a:rPr>
              <a:t>الفرق كله من التعليمات. </a:t>
            </a:r>
            <a:r>
              <a:rPr lang="ar-SA" sz="1700" b="0" dirty="0">
                <a:solidFill>
                  <a:srgbClr val="1B2733"/>
                </a:solidFill>
                <a:latin typeface="Segoe UI"/>
                <a:cs typeface="Segoe UI"/>
              </a:rPr>
              <a:t>نفس النموذج ونفس الإعلانات. اللي تغيّر بس: قواعد ثابتة، وسيفي كملف.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8000" y="324000"/>
            <a:ext cx="10896119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15000"/>
              </a:lnSpc>
              <a:spcAft>
                <a:spcPts val="600"/>
              </a:spcAft>
            </a:pPr>
            <a:r>
              <a:rPr lang="ar-SA" sz="1200" b="1">
                <a:solidFill>
                  <a:srgbClr val="F07F2C"/>
                </a:solidFill>
                <a:latin typeface="Segoe UI Semibold"/>
                <a:cs typeface="Segoe UI Semibold"/>
              </a:rPr>
              <a:t>11  ·  المخاطر والضوابط والإفصاح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8000" y="558000"/>
            <a:ext cx="10896119" cy="68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05000"/>
              </a:lnSpc>
              <a:spcAft>
                <a:spcPts val="600"/>
              </a:spcAft>
            </a:pPr>
            <a:r>
              <a:rPr lang="ar-SA" sz="2400" b="1">
                <a:solidFill>
                  <a:srgbClr val="1B2733"/>
                </a:solidFill>
                <a:latin typeface="Segoe UI Semibold"/>
                <a:cs typeface="Segoe UI Semibold"/>
              </a:rPr>
              <a:t>التدقيق مني هو الضابط الأساسي، والمسؤولية علي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8000" y="1278000"/>
            <a:ext cx="10896119" cy="0"/>
          </a:xfrm>
          <a:prstGeom prst="line">
            <a:avLst/>
          </a:prstGeom>
          <a:ln w="9525">
            <a:solidFill>
              <a:srgbClr val="D5DB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10752119" y="1252800"/>
            <a:ext cx="792000" cy="27940"/>
          </a:xfrm>
          <a:prstGeom prst="rect">
            <a:avLst/>
          </a:prstGeom>
          <a:solidFill>
            <a:srgbClr val="F07F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6" name="Connector 5"/>
          <p:cNvCxnSpPr/>
          <p:nvPr/>
        </p:nvCxnSpPr>
        <p:spPr>
          <a:xfrm>
            <a:off x="648000" y="6444001"/>
            <a:ext cx="10896119" cy="0"/>
          </a:xfrm>
          <a:prstGeom prst="line">
            <a:avLst/>
          </a:prstGeom>
          <a:ln w="9525">
            <a:solidFill>
              <a:srgbClr val="D5DB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728000" y="6498000"/>
            <a:ext cx="9816119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15000"/>
              </a:lnSpc>
              <a:spcAft>
                <a:spcPts val="600"/>
              </a:spcAft>
            </a:pPr>
            <a:r>
              <a:rPr lang="ar-SA" sz="1000" b="0">
                <a:solidFill>
                  <a:srgbClr val="5B6770"/>
                </a:solidFill>
                <a:latin typeface="Segoe UI"/>
                <a:cs typeface="Segoe UI"/>
              </a:rPr>
              <a:t>المشروع النهائي  ·  دورة رفع الإنتاجية بالذكاء الاصطناعي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8000" y="6498000"/>
            <a:ext cx="108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rtl="1">
              <a:lnSpc>
                <a:spcPct val="115000"/>
              </a:lnSpc>
              <a:spcAft>
                <a:spcPts val="600"/>
              </a:spcAft>
            </a:pPr>
            <a:r>
              <a:rPr lang="ar-SA" sz="1000" b="0">
                <a:solidFill>
                  <a:srgbClr val="5B6770"/>
                </a:solidFill>
                <a:latin typeface="Segoe UI"/>
                <a:cs typeface="Segoe UI"/>
              </a:rPr>
              <a:t>12 / 15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36119" y="1584000"/>
          <a:ext cx="10908000" cy="3780000"/>
        </p:xfrm>
        <a:graphic>
          <a:graphicData uri="http://schemas.openxmlformats.org/drawingml/2006/table">
            <a:tbl>
              <a:tblPr rtl="1"/>
              <a:tblGrid>
                <a:gridCol w="27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0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30000">
                <a:tc>
                  <a:txBody>
                    <a:bodyPr/>
                    <a:lstStyle/>
                    <a:p>
                      <a:pPr algn="r" rtl="1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lang="ar-SA" sz="1600" b="1">
                          <a:solidFill>
                            <a:srgbClr val="25343F"/>
                          </a:solidFill>
                          <a:latin typeface="Segoe UI Semibold"/>
                          <a:cs typeface="Segoe UI Semibold"/>
                        </a:rPr>
                        <a:t>البند</a:t>
                      </a:r>
                    </a:p>
                  </a:txBody>
                  <a:tcPr marL="90000" marR="90000" marT="43200" marB="432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 cmpd="sng">
                      <a:solidFill>
                        <a:srgbClr val="25343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lang="ar-SA" sz="1600" b="1">
                          <a:solidFill>
                            <a:srgbClr val="25343F"/>
                          </a:solidFill>
                          <a:latin typeface="Segoe UI Semibold"/>
                          <a:cs typeface="Segoe UI Semibold"/>
                        </a:rPr>
                        <a:t>إجابتي</a:t>
                      </a:r>
                    </a:p>
                  </a:txBody>
                  <a:tcPr marL="90000" marR="90000" marT="43200" marB="432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 cmpd="sng">
                      <a:solidFill>
                        <a:srgbClr val="25343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0000">
                <a:tc>
                  <a:txBody>
                    <a:bodyPr/>
                    <a:lstStyle/>
                    <a:p>
                      <a:pPr algn="r" rtl="1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lang="ar-SA" sz="1600" b="1">
                          <a:solidFill>
                            <a:srgbClr val="1B2733"/>
                          </a:solidFill>
                          <a:latin typeface="Segoe UI Semibold"/>
                          <a:cs typeface="Segoe UI Semibold"/>
                        </a:rPr>
                        <a:t>أسوأ شي ممكن يصير</a:t>
                      </a:r>
                    </a:p>
                  </a:txBody>
                  <a:tcPr marL="90000" marR="90000" marT="43200" marB="43200" anchor="ctr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rgbClr val="25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mpd="sng">
                      <a:solidFill>
                        <a:srgbClr val="D5DB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lang="ar-SA" sz="1600" b="0">
                          <a:solidFill>
                            <a:srgbClr val="1B2733"/>
                          </a:solidFill>
                          <a:latin typeface="Segoe UI"/>
                          <a:cs typeface="Segoe UI"/>
                        </a:rPr>
                        <a:t>أرسل رسالة فيها مهارة ما عندي، وتنكشف في المقابلة.</a:t>
                      </a:r>
                    </a:p>
                  </a:txBody>
                  <a:tcPr marL="90000" marR="90000" marT="43200" marB="43200" anchor="ctr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rgbClr val="25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mpd="sng">
                      <a:solidFill>
                        <a:srgbClr val="D5DBE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0000">
                <a:tc>
                  <a:txBody>
                    <a:bodyPr/>
                    <a:lstStyle/>
                    <a:p>
                      <a:pPr algn="r" rtl="1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lang="ar-SA" sz="1600" b="1">
                          <a:solidFill>
                            <a:srgbClr val="1B2733"/>
                          </a:solidFill>
                          <a:latin typeface="Segoe UI Semibold"/>
                          <a:cs typeface="Segoe UI Semibold"/>
                        </a:rPr>
                        <a:t>الضابط اللي يمنعه</a:t>
                      </a:r>
                    </a:p>
                  </a:txBody>
                  <a:tcPr marL="90000" marR="90000" marT="43200" marB="432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mpd="sng">
                      <a:solidFill>
                        <a:srgbClr val="D5DB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lang="ar-SA" sz="1600" b="0">
                          <a:solidFill>
                            <a:srgbClr val="1B2733"/>
                          </a:solidFill>
                          <a:latin typeface="Segoe UI"/>
                          <a:cs typeface="Segoe UI"/>
                        </a:rPr>
                        <a:t>قاعدة «لا تضيف شي مو في سيفي»، وجدول مطابقة يوضح مصدر كل معلومة، وتدقيق مني قبل أي إرسال.</a:t>
                      </a:r>
                    </a:p>
                  </a:txBody>
                  <a:tcPr marL="90000" marR="90000" marT="43200" marB="432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mpd="sng">
                      <a:solidFill>
                        <a:srgbClr val="D5DBE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0000">
                <a:tc>
                  <a:txBody>
                    <a:bodyPr/>
                    <a:lstStyle/>
                    <a:p>
                      <a:pPr algn="r" rtl="1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lang="ar-SA" sz="1600" b="1">
                          <a:solidFill>
                            <a:srgbClr val="1B2733"/>
                          </a:solidFill>
                          <a:latin typeface="Segoe UI Semibold"/>
                          <a:cs typeface="Segoe UI Semibold"/>
                        </a:rPr>
                        <a:t>الإفصاح للشركة</a:t>
                      </a:r>
                    </a:p>
                  </a:txBody>
                  <a:tcPr marL="90000" marR="90000" marT="43200" marB="432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mpd="sng">
                      <a:solidFill>
                        <a:srgbClr val="D5DB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lang="ar-SA" sz="1600" b="0">
                          <a:solidFill>
                            <a:srgbClr val="1B2733"/>
                          </a:solidFill>
                          <a:latin typeface="Segoe UI"/>
                          <a:cs typeface="Segoe UI"/>
                        </a:rPr>
                        <a:t>ما يلزم: كل معلومة من سيفي، وأنا راجعتها واعتمدتها، والرسالة باسمي ومسؤوليتي.</a:t>
                      </a:r>
                    </a:p>
                  </a:txBody>
                  <a:tcPr marL="90000" marR="90000" marT="43200" marB="432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mpd="sng">
                      <a:solidFill>
                        <a:srgbClr val="D5DBE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0000">
                <a:tc>
                  <a:txBody>
                    <a:bodyPr/>
                    <a:lstStyle/>
                    <a:p>
                      <a:pPr algn="r" rtl="1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lang="ar-SA" sz="1600" b="1">
                          <a:solidFill>
                            <a:srgbClr val="1B2733"/>
                          </a:solidFill>
                          <a:latin typeface="Segoe UI Semibold"/>
                          <a:cs typeface="Segoe UI Semibold"/>
                        </a:rPr>
                        <a:t>الإفصاح في المشروع</a:t>
                      </a:r>
                    </a:p>
                  </a:txBody>
                  <a:tcPr marL="90000" marR="90000" marT="43200" marB="432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mpd="sng">
                      <a:solidFill>
                        <a:srgbClr val="D5DB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lang="ar-SA" sz="1600" b="0" dirty="0">
                          <a:solidFill>
                            <a:srgbClr val="1B2733"/>
                          </a:solidFill>
                          <a:latin typeface="Segoe UI"/>
                          <a:cs typeface="Segoe UI"/>
                        </a:rPr>
                        <a:t>التجارب سويتها في </a:t>
                      </a:r>
                      <a:r>
                        <a:rPr lang="ar-SA" sz="1600" b="0" dirty="0" err="1">
                          <a:solidFill>
                            <a:srgbClr val="1B2733"/>
                          </a:solidFill>
                          <a:latin typeface="Segoe UI"/>
                          <a:cs typeface="Segoe UI"/>
                        </a:rPr>
                        <a:t>Gemini</a:t>
                      </a:r>
                      <a:r>
                        <a:rPr lang="ar-SA" sz="1600" b="0" dirty="0">
                          <a:solidFill>
                            <a:srgbClr val="1B2733"/>
                          </a:solidFill>
                          <a:latin typeface="Segoe UI"/>
                          <a:cs typeface="Segoe UI"/>
                        </a:rPr>
                        <a:t>، وجهزت الشرائح بمساعدة الذكاء الاصطناعي وراجعتها.</a:t>
                      </a:r>
                    </a:p>
                  </a:txBody>
                  <a:tcPr marL="90000" marR="90000" marT="43200" marB="432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mpd="sng">
                      <a:solidFill>
                        <a:srgbClr val="D5DBE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30000">
                <a:tc>
                  <a:txBody>
                    <a:bodyPr/>
                    <a:lstStyle/>
                    <a:p>
                      <a:pPr algn="r" rtl="1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lang="ar-SA" sz="1600" b="1">
                          <a:solidFill>
                            <a:srgbClr val="1B2733"/>
                          </a:solidFill>
                          <a:latin typeface="Segoe UI Semibold"/>
                          <a:cs typeface="Segoe UI Semibold"/>
                        </a:rPr>
                        <a:t>مين المسؤول؟</a:t>
                      </a:r>
                    </a:p>
                  </a:txBody>
                  <a:tcPr marL="90000" marR="90000" marT="43200" marB="432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mpd="sng">
                      <a:solidFill>
                        <a:srgbClr val="D5DB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lang="ar-SA" sz="1600" b="0" dirty="0">
                          <a:solidFill>
                            <a:srgbClr val="1B2733"/>
                          </a:solidFill>
                          <a:latin typeface="Segoe UI"/>
                          <a:cs typeface="Segoe UI"/>
                        </a:rPr>
                        <a:t>أنا، </a:t>
                      </a:r>
                      <a:r>
                        <a:rPr lang="ar-SA" sz="1600" b="0" dirty="0" err="1">
                          <a:solidFill>
                            <a:srgbClr val="1B2733"/>
                          </a:solidFill>
                          <a:latin typeface="Segoe UI"/>
                          <a:cs typeface="Segoe UI"/>
                        </a:rPr>
                        <a:t>مو</a:t>
                      </a:r>
                      <a:r>
                        <a:rPr lang="ar-SA" sz="1600" b="0" dirty="0">
                          <a:solidFill>
                            <a:srgbClr val="1B2733"/>
                          </a:solidFill>
                          <a:latin typeface="Segoe UI"/>
                          <a:cs typeface="Segoe UI"/>
                        </a:rPr>
                        <a:t> التطبيق.</a:t>
                      </a:r>
                    </a:p>
                  </a:txBody>
                  <a:tcPr marL="90000" marR="90000" marT="43200" marB="432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mpd="sng">
                      <a:solidFill>
                        <a:srgbClr val="D5DBE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8000" y="324000"/>
            <a:ext cx="10896119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15000"/>
              </a:lnSpc>
              <a:spcAft>
                <a:spcPts val="600"/>
              </a:spcAft>
            </a:pPr>
            <a:r>
              <a:rPr lang="ar-SA" sz="1200" b="1">
                <a:solidFill>
                  <a:srgbClr val="F07F2C"/>
                </a:solidFill>
                <a:latin typeface="Segoe UI Semibold"/>
                <a:cs typeface="Segoe UI Semibold"/>
              </a:rPr>
              <a:t>12  ·  خطة 30 يوم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8000" y="558000"/>
            <a:ext cx="10896119" cy="68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05000"/>
              </a:lnSpc>
              <a:spcAft>
                <a:spcPts val="600"/>
              </a:spcAft>
            </a:pPr>
            <a:r>
              <a:rPr lang="ar-SA" sz="2400" b="1">
                <a:solidFill>
                  <a:srgbClr val="1B2733"/>
                </a:solidFill>
                <a:latin typeface="Segoe UI Semibold"/>
                <a:cs typeface="Segoe UI Semibold"/>
              </a:rPr>
              <a:t>أقيس كل طلب لمدة شهر، وأقرر بالأرقام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8000" y="1278000"/>
            <a:ext cx="10896119" cy="0"/>
          </a:xfrm>
          <a:prstGeom prst="line">
            <a:avLst/>
          </a:prstGeom>
          <a:ln w="9525">
            <a:solidFill>
              <a:srgbClr val="D5DB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10752119" y="1252800"/>
            <a:ext cx="792000" cy="27940"/>
          </a:xfrm>
          <a:prstGeom prst="rect">
            <a:avLst/>
          </a:prstGeom>
          <a:solidFill>
            <a:srgbClr val="F07F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6" name="Connector 5"/>
          <p:cNvCxnSpPr/>
          <p:nvPr/>
        </p:nvCxnSpPr>
        <p:spPr>
          <a:xfrm>
            <a:off x="648000" y="6444001"/>
            <a:ext cx="10896119" cy="0"/>
          </a:xfrm>
          <a:prstGeom prst="line">
            <a:avLst/>
          </a:prstGeom>
          <a:ln w="9525">
            <a:solidFill>
              <a:srgbClr val="D5DB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728000" y="6498000"/>
            <a:ext cx="9816119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15000"/>
              </a:lnSpc>
              <a:spcAft>
                <a:spcPts val="600"/>
              </a:spcAft>
            </a:pPr>
            <a:r>
              <a:rPr lang="ar-SA" sz="1000" b="0">
                <a:solidFill>
                  <a:srgbClr val="5B6770"/>
                </a:solidFill>
                <a:latin typeface="Segoe UI"/>
                <a:cs typeface="Segoe UI"/>
              </a:rPr>
              <a:t>المشروع النهائي  ·  دورة رفع الإنتاجية بالذكاء الاصطناعي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8000" y="6498000"/>
            <a:ext cx="108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rtl="1">
              <a:lnSpc>
                <a:spcPct val="115000"/>
              </a:lnSpc>
              <a:spcAft>
                <a:spcPts val="600"/>
              </a:spcAft>
            </a:pPr>
            <a:r>
              <a:rPr lang="ar-SA" sz="1000" b="0">
                <a:solidFill>
                  <a:srgbClr val="5B6770"/>
                </a:solidFill>
                <a:latin typeface="Segoe UI"/>
                <a:cs typeface="Segoe UI"/>
              </a:rPr>
              <a:t>13 / 15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36119" y="1584000"/>
          <a:ext cx="10908000" cy="2160000"/>
        </p:xfrm>
        <a:graphic>
          <a:graphicData uri="http://schemas.openxmlformats.org/drawingml/2006/table">
            <a:tbl>
              <a:tblPr rtl="1"/>
              <a:tblGrid>
                <a:gridCol w="234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6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0000">
                <a:tc>
                  <a:txBody>
                    <a:bodyPr/>
                    <a:lstStyle/>
                    <a:p>
                      <a:pPr algn="r" rtl="1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lang="ar-SA" sz="1600" b="1">
                          <a:solidFill>
                            <a:srgbClr val="25343F"/>
                          </a:solidFill>
                          <a:latin typeface="Segoe UI Semibold"/>
                          <a:cs typeface="Segoe UI Semibold"/>
                        </a:rPr>
                        <a:t>متى</a:t>
                      </a:r>
                    </a:p>
                  </a:txBody>
                  <a:tcPr marL="90000" marR="90000" marT="43200" marB="432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 cmpd="sng">
                      <a:solidFill>
                        <a:srgbClr val="25343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lang="ar-SA" sz="1600" b="1">
                          <a:solidFill>
                            <a:srgbClr val="25343F"/>
                          </a:solidFill>
                          <a:latin typeface="Segoe UI Semibold"/>
                          <a:cs typeface="Segoe UI Semibold"/>
                        </a:rPr>
                        <a:t>وش أسوي</a:t>
                      </a:r>
                    </a:p>
                  </a:txBody>
                  <a:tcPr marL="90000" marR="90000" marT="43200" marB="432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 cmpd="sng">
                      <a:solidFill>
                        <a:srgbClr val="25343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r" rtl="1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lang="ar-SA" sz="1600" b="1">
                          <a:solidFill>
                            <a:srgbClr val="1B2733"/>
                          </a:solidFill>
                          <a:latin typeface="Segoe UI Semibold"/>
                          <a:cs typeface="Segoe UI Semibold"/>
                        </a:rPr>
                        <a:t>اليوم الأول</a:t>
                      </a:r>
                    </a:p>
                  </a:txBody>
                  <a:tcPr marL="90000" marR="90000" marT="43200" marB="43200" anchor="ctr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rgbClr val="25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mpd="sng">
                      <a:solidFill>
                        <a:srgbClr val="D5DB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lang="ar-SA" sz="1600" b="0">
                          <a:solidFill>
                            <a:srgbClr val="1B2733"/>
                          </a:solidFill>
                          <a:latin typeface="Segoe UI"/>
                          <a:cs typeface="Segoe UI"/>
                        </a:rPr>
                        <a:t>أقدّم على إعلان علم بالـ Gem بعد ما أكتب معدلي، وأسجّل الوقت.</a:t>
                      </a:r>
                    </a:p>
                  </a:txBody>
                  <a:tcPr marL="90000" marR="90000" marT="43200" marB="43200" anchor="ctr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rgbClr val="25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mpd="sng">
                      <a:solidFill>
                        <a:srgbClr val="D5DBE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r" rtl="1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lang="ar-SA" sz="1600" b="1">
                          <a:solidFill>
                            <a:srgbClr val="1B2733"/>
                          </a:solidFill>
                          <a:latin typeface="Segoe UI Semibold"/>
                          <a:cs typeface="Segoe UI Semibold"/>
                        </a:rPr>
                        <a:t>الأسبوع الأول</a:t>
                      </a:r>
                    </a:p>
                  </a:txBody>
                  <a:tcPr marL="90000" marR="90000" marT="43200" marB="432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mpd="sng">
                      <a:solidFill>
                        <a:srgbClr val="D5DB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lang="ar-SA" sz="1600" b="0">
                          <a:solidFill>
                            <a:srgbClr val="1B2733"/>
                          </a:solidFill>
                          <a:latin typeface="Segoe UI"/>
                          <a:cs typeface="Segoe UI"/>
                        </a:rPr>
                        <a:t>كل طلباتي بالـ Gem، وأسجّل لكل طلب: الوقت، وكم معلومة صححت.</a:t>
                      </a:r>
                    </a:p>
                  </a:txBody>
                  <a:tcPr marL="90000" marR="90000" marT="43200" marB="432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mpd="sng">
                      <a:solidFill>
                        <a:srgbClr val="D5DBE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r" rtl="1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lang="ar-SA" sz="1600" b="1">
                          <a:solidFill>
                            <a:srgbClr val="1B2733"/>
                          </a:solidFill>
                          <a:latin typeface="Segoe UI Semibold"/>
                          <a:cs typeface="Segoe UI Semibold"/>
                        </a:rPr>
                        <a:t>الشهر الأول</a:t>
                      </a:r>
                    </a:p>
                  </a:txBody>
                  <a:tcPr marL="90000" marR="90000" marT="43200" marB="432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mpd="sng">
                      <a:solidFill>
                        <a:srgbClr val="D5DB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lang="ar-SA" sz="1600" b="0">
                          <a:solidFill>
                            <a:srgbClr val="1B2733"/>
                          </a:solidFill>
                          <a:latin typeface="Segoe UI"/>
                          <a:cs typeface="Segoe UI"/>
                        </a:rPr>
                        <a:t>أراجع السجل وأقرر.</a:t>
                      </a:r>
                    </a:p>
                  </a:txBody>
                  <a:tcPr marL="90000" marR="90000" marT="43200" marB="432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mpd="sng">
                      <a:solidFill>
                        <a:srgbClr val="D5DBE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48000" y="4104000"/>
            <a:ext cx="10896119" cy="18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15000"/>
              </a:lnSpc>
              <a:spcAft>
                <a:spcPts val="1000"/>
              </a:spcAft>
            </a:pPr>
            <a:r>
              <a:rPr lang="ar-SA" sz="1600" b="0">
                <a:solidFill>
                  <a:srgbClr val="F07F2C"/>
                </a:solidFill>
                <a:latin typeface="Segoe UI"/>
                <a:cs typeface="Segoe UI"/>
              </a:rPr>
              <a:t>■  </a:t>
            </a:r>
            <a:r>
              <a:rPr lang="ar-SA" sz="1600" b="1">
                <a:solidFill>
                  <a:srgbClr val="1B2733"/>
                </a:solidFill>
                <a:latin typeface="Segoe UI Semibold"/>
                <a:cs typeface="Segoe UI Semibold"/>
              </a:rPr>
              <a:t>المؤشرات: </a:t>
            </a:r>
            <a:r>
              <a:rPr lang="ar-SA" sz="1600" b="0">
                <a:solidFill>
                  <a:srgbClr val="1B2733"/>
                </a:solidFill>
                <a:latin typeface="Segoe UI"/>
                <a:cs typeface="Segoe UI"/>
              </a:rPr>
              <a:t>متوسط الوقت 6 دقائق أو أقل، وصفر معلومات مخترعة توصل للشركة، وعدد الطلبات المرسلة.</a:t>
            </a:r>
          </a:p>
          <a:p>
            <a:pPr algn="r" rtl="1">
              <a:lnSpc>
                <a:spcPct val="115000"/>
              </a:lnSpc>
              <a:spcAft>
                <a:spcPts val="1000"/>
              </a:spcAft>
            </a:pPr>
            <a:r>
              <a:rPr lang="ar-SA" sz="1600" b="0">
                <a:solidFill>
                  <a:srgbClr val="F07F2C"/>
                </a:solidFill>
                <a:latin typeface="Segoe UI"/>
                <a:cs typeface="Segoe UI"/>
              </a:rPr>
              <a:t>■  </a:t>
            </a:r>
            <a:r>
              <a:rPr lang="ar-SA" sz="1600" b="1">
                <a:solidFill>
                  <a:srgbClr val="F07F2C"/>
                </a:solidFill>
                <a:latin typeface="Segoe UI Semibold"/>
                <a:cs typeface="Segoe UI Semibold"/>
              </a:rPr>
              <a:t>القرار بعد شهر: </a:t>
            </a:r>
            <a:r>
              <a:rPr lang="ar-SA" sz="1600" b="0">
                <a:solidFill>
                  <a:srgbClr val="1B2733"/>
                </a:solidFill>
                <a:latin typeface="Segoe UI"/>
                <a:cs typeface="Segoe UI"/>
              </a:rPr>
              <a:t>أستمر إذا تحققت المؤشرات. أعدّل التعليمات إذا تكرر نفس الخطأ. أتوقف إذا صار التدقيق أطول من الكتابة بيدي.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8000" y="324000"/>
            <a:ext cx="10896119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15000"/>
              </a:lnSpc>
              <a:spcAft>
                <a:spcPts val="600"/>
              </a:spcAft>
            </a:pPr>
            <a:r>
              <a:rPr lang="ar-SA" sz="1200" b="1">
                <a:solidFill>
                  <a:srgbClr val="F07F2C"/>
                </a:solidFill>
                <a:latin typeface="Segoe UI Semibold"/>
                <a:cs typeface="Segoe UI Semibold"/>
              </a:rPr>
              <a:t>الخلاصة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8000" y="558000"/>
            <a:ext cx="10896119" cy="68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05000"/>
              </a:lnSpc>
              <a:spcAft>
                <a:spcPts val="600"/>
              </a:spcAft>
            </a:pPr>
            <a:r>
              <a:rPr lang="ar-SA" sz="2400" b="1">
                <a:solidFill>
                  <a:srgbClr val="1B2733"/>
                </a:solidFill>
                <a:latin typeface="Segoe UI Semibold"/>
                <a:cs typeface="Segoe UI Semibold"/>
              </a:rPr>
              <a:t>الـ Gem قلّل وقت الطلب من 12 إلى 5 دقائق، بدون معلومات مخترعة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8000" y="1278000"/>
            <a:ext cx="10896119" cy="0"/>
          </a:xfrm>
          <a:prstGeom prst="line">
            <a:avLst/>
          </a:prstGeom>
          <a:ln w="9525">
            <a:solidFill>
              <a:srgbClr val="D5DB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10752119" y="1252800"/>
            <a:ext cx="792000" cy="27940"/>
          </a:xfrm>
          <a:prstGeom prst="rect">
            <a:avLst/>
          </a:prstGeom>
          <a:solidFill>
            <a:srgbClr val="F07F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6" name="Connector 5"/>
          <p:cNvCxnSpPr/>
          <p:nvPr/>
        </p:nvCxnSpPr>
        <p:spPr>
          <a:xfrm>
            <a:off x="648000" y="6444001"/>
            <a:ext cx="10896119" cy="0"/>
          </a:xfrm>
          <a:prstGeom prst="line">
            <a:avLst/>
          </a:prstGeom>
          <a:ln w="9525">
            <a:solidFill>
              <a:srgbClr val="D5DB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728000" y="6498000"/>
            <a:ext cx="9816119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15000"/>
              </a:lnSpc>
              <a:spcAft>
                <a:spcPts val="600"/>
              </a:spcAft>
            </a:pPr>
            <a:r>
              <a:rPr lang="ar-SA" sz="1000" b="0">
                <a:solidFill>
                  <a:srgbClr val="5B6770"/>
                </a:solidFill>
                <a:latin typeface="Segoe UI"/>
                <a:cs typeface="Segoe UI"/>
              </a:rPr>
              <a:t>المشروع النهائي  ·  دورة رفع الإنتاجية بالذكاء الاصطناعي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8000" y="6498000"/>
            <a:ext cx="108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rtl="1">
              <a:lnSpc>
                <a:spcPct val="115000"/>
              </a:lnSpc>
              <a:spcAft>
                <a:spcPts val="600"/>
              </a:spcAft>
            </a:pPr>
            <a:r>
              <a:rPr lang="ar-SA" sz="1000" b="0">
                <a:solidFill>
                  <a:srgbClr val="5B6770"/>
                </a:solidFill>
                <a:latin typeface="Segoe UI"/>
                <a:cs typeface="Segoe UI"/>
              </a:rPr>
              <a:t>14 / 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28080" y="2135646"/>
            <a:ext cx="3416037" cy="7860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15000"/>
              </a:lnSpc>
              <a:spcAft>
                <a:spcPts val="200"/>
              </a:spcAft>
            </a:pPr>
            <a:r>
              <a:rPr lang="ar-SA" sz="3200" b="0" dirty="0">
                <a:solidFill>
                  <a:srgbClr val="25343F"/>
                </a:solidFill>
                <a:latin typeface="Segoe UI Light"/>
                <a:cs typeface="Segoe UI Light"/>
              </a:rPr>
              <a:t>5 دقائق</a:t>
            </a:r>
          </a:p>
          <a:p>
            <a:pPr algn="r" rtl="1">
              <a:lnSpc>
                <a:spcPct val="115000"/>
              </a:lnSpc>
              <a:spcAft>
                <a:spcPts val="0"/>
              </a:spcAft>
            </a:pPr>
            <a:r>
              <a:rPr lang="ar-SA" sz="1200" b="0" dirty="0">
                <a:solidFill>
                  <a:srgbClr val="5B6770"/>
                </a:solidFill>
                <a:latin typeface="Segoe UI"/>
                <a:cs typeface="Segoe UI"/>
              </a:rPr>
              <a:t>وقت الطلب الواحد مع التدقيق، بدل 12 دقيقة بيدي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912080" y="1655999"/>
            <a:ext cx="0" cy="1512000"/>
          </a:xfrm>
          <a:prstGeom prst="line">
            <a:avLst/>
          </a:prstGeom>
          <a:ln w="9525">
            <a:solidFill>
              <a:srgbClr val="D5DB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496042" y="2135646"/>
            <a:ext cx="3156688" cy="9984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15000"/>
              </a:lnSpc>
              <a:spcAft>
                <a:spcPts val="200"/>
              </a:spcAft>
            </a:pPr>
            <a:r>
              <a:rPr lang="ar-SA" sz="3200" b="0" dirty="0">
                <a:solidFill>
                  <a:srgbClr val="25343F"/>
                </a:solidFill>
                <a:latin typeface="Segoe UI Light"/>
                <a:cs typeface="Segoe UI Light"/>
              </a:rPr>
              <a:t>0 من 3</a:t>
            </a:r>
          </a:p>
          <a:p>
            <a:pPr algn="r" rtl="1">
              <a:lnSpc>
                <a:spcPct val="115000"/>
              </a:lnSpc>
              <a:spcAft>
                <a:spcPts val="0"/>
              </a:spcAft>
            </a:pPr>
            <a:r>
              <a:rPr lang="ar-SA" sz="1200" b="0" dirty="0">
                <a:solidFill>
                  <a:srgbClr val="5B6770"/>
                </a:solidFill>
                <a:latin typeface="Segoe UI"/>
                <a:cs typeface="Segoe UI"/>
              </a:rPr>
              <a:t>حالات فيها معلومة </a:t>
            </a:r>
            <a:r>
              <a:rPr lang="ar-SA" sz="1200" b="0" dirty="0" err="1">
                <a:solidFill>
                  <a:srgbClr val="5B6770"/>
                </a:solidFill>
                <a:latin typeface="Segoe UI"/>
                <a:cs typeface="Segoe UI"/>
              </a:rPr>
              <a:t>مو</a:t>
            </a:r>
            <a:r>
              <a:rPr lang="ar-SA" sz="1200" b="0" dirty="0">
                <a:solidFill>
                  <a:srgbClr val="5B6770"/>
                </a:solidFill>
                <a:latin typeface="Segoe UI"/>
                <a:cs typeface="Segoe UI"/>
              </a:rPr>
              <a:t> في سيفي بالـ </a:t>
            </a:r>
            <a:r>
              <a:rPr lang="ar-SA" sz="1200" b="0" dirty="0" err="1">
                <a:solidFill>
                  <a:srgbClr val="5B6770"/>
                </a:solidFill>
                <a:latin typeface="Segoe UI"/>
                <a:cs typeface="Segoe UI"/>
              </a:rPr>
              <a:t>Gem</a:t>
            </a:r>
            <a:r>
              <a:rPr lang="ar-SA" sz="1200" b="0" dirty="0">
                <a:solidFill>
                  <a:srgbClr val="5B6770"/>
                </a:solidFill>
                <a:latin typeface="Segoe UI"/>
                <a:cs typeface="Segoe UI"/>
              </a:rPr>
              <a:t>، مقابل 3 من 3 في المحادثة العادية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280041" y="1655999"/>
            <a:ext cx="0" cy="1512000"/>
          </a:xfrm>
          <a:prstGeom prst="line">
            <a:avLst/>
          </a:prstGeom>
          <a:ln w="9525">
            <a:solidFill>
              <a:srgbClr val="D5DB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64003" y="2135646"/>
            <a:ext cx="3008390" cy="9645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15000"/>
              </a:lnSpc>
              <a:spcAft>
                <a:spcPts val="200"/>
              </a:spcAft>
            </a:pPr>
            <a:r>
              <a:rPr lang="ar-SA" sz="3200" b="0" dirty="0">
                <a:solidFill>
                  <a:srgbClr val="25343F"/>
                </a:solidFill>
                <a:latin typeface="Segoe UI Light"/>
                <a:cs typeface="Segoe UI Light"/>
              </a:rPr>
              <a:t>صفر</a:t>
            </a:r>
          </a:p>
          <a:p>
            <a:pPr algn="r" rtl="1">
              <a:lnSpc>
                <a:spcPct val="115000"/>
              </a:lnSpc>
              <a:spcAft>
                <a:spcPts val="0"/>
              </a:spcAft>
            </a:pPr>
            <a:r>
              <a:rPr lang="ar-SA" sz="1100" b="0" dirty="0">
                <a:solidFill>
                  <a:srgbClr val="5B6770"/>
                </a:solidFill>
                <a:latin typeface="Segoe UI"/>
                <a:cs typeface="Segoe UI"/>
              </a:rPr>
              <a:t>كلمات حشو في رسائل الـ </a:t>
            </a:r>
            <a:r>
              <a:rPr lang="ar-SA" sz="1100" b="0" dirty="0" err="1">
                <a:solidFill>
                  <a:srgbClr val="5B6770"/>
                </a:solidFill>
                <a:latin typeface="Segoe UI"/>
                <a:cs typeface="Segoe UI"/>
              </a:rPr>
              <a:t>Gem</a:t>
            </a:r>
            <a:r>
              <a:rPr lang="ar-SA" sz="1100" b="0" dirty="0">
                <a:solidFill>
                  <a:srgbClr val="5B6770"/>
                </a:solidFill>
                <a:latin typeface="Segoe UI"/>
                <a:cs typeface="Segoe UI"/>
              </a:rPr>
              <a:t>، مقابل 7 في المحادثة العادية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48000" y="3636000"/>
            <a:ext cx="10896119" cy="0"/>
          </a:xfrm>
          <a:prstGeom prst="line">
            <a:avLst/>
          </a:prstGeom>
          <a:ln w="9525">
            <a:solidFill>
              <a:srgbClr val="D5DB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48000" y="3816000"/>
            <a:ext cx="10896119" cy="13855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15000"/>
              </a:lnSpc>
              <a:spcAft>
                <a:spcPts val="1000"/>
              </a:spcAft>
            </a:pPr>
            <a:r>
              <a:rPr lang="ar-SA" sz="1700" b="0" dirty="0">
                <a:solidFill>
                  <a:srgbClr val="1B2733"/>
                </a:solidFill>
                <a:latin typeface="Segoe UI"/>
                <a:cs typeface="Segoe UI"/>
              </a:rPr>
              <a:t>هل تستعمل الذكاء الاصطناعي بمهارة، ورفع إنتاجيتك ولا خلاك أبطأ؟</a:t>
            </a:r>
          </a:p>
          <a:p>
            <a:pPr algn="r" rtl="1">
              <a:lnSpc>
                <a:spcPct val="115000"/>
              </a:lnSpc>
              <a:spcAft>
                <a:spcPts val="1000"/>
              </a:spcAft>
            </a:pPr>
            <a:r>
              <a:rPr lang="ar-SA" sz="1700" b="1" dirty="0">
                <a:solidFill>
                  <a:srgbClr val="F07F2C"/>
                </a:solidFill>
                <a:latin typeface="Segoe UI Semibold"/>
                <a:cs typeface="Segoe UI Semibold"/>
              </a:rPr>
              <a:t>الجواب: </a:t>
            </a:r>
            <a:r>
              <a:rPr lang="ar-SA" sz="1700" b="0" dirty="0">
                <a:solidFill>
                  <a:srgbClr val="1B2733"/>
                </a:solidFill>
                <a:latin typeface="Segoe UI"/>
                <a:cs typeface="Segoe UI"/>
              </a:rPr>
              <a:t>رفع إنتاجيتي بشرطين: تعليمات ثابتة وتدقيق مني. المحادثة العادية بدون تعليمات تكتب بسرعة، لكنها أضافت معلومات غير صحيحة في كل الحالات.</a:t>
            </a:r>
          </a:p>
          <a:p>
            <a:pPr algn="r" rtl="1">
              <a:lnSpc>
                <a:spcPct val="115000"/>
              </a:lnSpc>
              <a:spcAft>
                <a:spcPts val="600"/>
              </a:spcAft>
            </a:pPr>
            <a:r>
              <a:rPr lang="ar-SA" sz="1400" dirty="0">
                <a:solidFill>
                  <a:srgbClr val="5B6770"/>
                </a:solidFill>
                <a:latin typeface="Segoe UI Semibold"/>
                <a:cs typeface="Segoe UI Semibold"/>
              </a:rPr>
              <a:t>قياسي كان في </a:t>
            </a:r>
            <a:r>
              <a:rPr lang="ar-SA" sz="1400" b="0" dirty="0">
                <a:solidFill>
                  <a:srgbClr val="5B6770"/>
                </a:solidFill>
                <a:latin typeface="Segoe UI"/>
                <a:cs typeface="Segoe UI"/>
              </a:rPr>
              <a:t>تجربة يوم والوقت مقاس على طلب قبل وطلب بعد.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1752</Words>
  <Application>Microsoft Office PowerPoint</Application>
  <PresentationFormat>Widescreen</PresentationFormat>
  <Paragraphs>229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Arial</vt:lpstr>
      <vt:lpstr>Calibri</vt:lpstr>
      <vt:lpstr>Consolas</vt:lpstr>
      <vt:lpstr>Segoe UI</vt:lpstr>
      <vt:lpstr>Segoe UI Light</vt:lpstr>
      <vt:lpstr>Segoe UI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Khaled Ibrahim Hassan Almathami</cp:lastModifiedBy>
  <cp:revision>6</cp:revision>
  <dcterms:created xsi:type="dcterms:W3CDTF">2013-01-27T09:14:16Z</dcterms:created>
  <dcterms:modified xsi:type="dcterms:W3CDTF">2026-10-22T06:23:16Z</dcterms:modified>
  <cp:category/>
</cp:coreProperties>
</file>